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0" r:id="rId5"/>
    <p:sldId id="259" r:id="rId6"/>
    <p:sldId id="270" r:id="rId7"/>
    <p:sldId id="264" r:id="rId8"/>
    <p:sldId id="266" r:id="rId9"/>
    <p:sldId id="267" r:id="rId10"/>
    <p:sldId id="268" r:id="rId11"/>
    <p:sldId id="269" r:id="rId12"/>
    <p:sldId id="265"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0" d="100"/>
          <a:sy n="70" d="100"/>
        </p:scale>
        <p:origin x="512"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742"/>
        </a:solidFill>
        <a:effectLst/>
      </p:bgPr>
    </p:bg>
    <p:spTree>
      <p:nvGrpSpPr>
        <p:cNvPr id="1" name=""/>
        <p:cNvGrpSpPr/>
        <p:nvPr/>
      </p:nvGrpSpPr>
      <p:grpSpPr>
        <a:xfrm>
          <a:off x="0" y="0"/>
          <a:ext cx="0" cy="0"/>
          <a:chOff x="0" y="0"/>
          <a:chExt cx="0" cy="0"/>
        </a:xfrm>
      </p:grpSpPr>
      <p:sp>
        <p:nvSpPr>
          <p:cNvPr id="2" name="Rectangle 1"/>
          <p:cNvSpPr/>
          <p:nvPr/>
        </p:nvSpPr>
        <p:spPr>
          <a:xfrm>
            <a:off x="8686800" y="0"/>
            <a:ext cx="3504895" cy="6858000"/>
          </a:xfrm>
          <a:prstGeom prst="rect">
            <a:avLst/>
          </a:prstGeom>
          <a:solidFill>
            <a:srgbClr val="1939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Oval 2"/>
          <p:cNvSpPr/>
          <p:nvPr/>
        </p:nvSpPr>
        <p:spPr>
          <a:xfrm>
            <a:off x="9189720" y="1417320"/>
            <a:ext cx="438912" cy="438912"/>
          </a:xfrm>
          <a:prstGeom prst="ellipse">
            <a:avLst/>
          </a:prstGeom>
          <a:solidFill>
            <a:srgbClr val="22B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829800" y="1453896"/>
            <a:ext cx="1737360" cy="320040"/>
          </a:xfrm>
          <a:prstGeom prst="rect">
            <a:avLst/>
          </a:prstGeom>
          <a:noFill/>
        </p:spPr>
        <p:txBody>
          <a:bodyPr wrap="square" lIns="18288" tIns="18288" rIns="18288" bIns="18288" anchor="t">
            <a:spAutoFit/>
          </a:bodyPr>
          <a:lstStyle/>
          <a:p>
            <a:pPr algn="l"/>
            <a:r>
              <a:rPr sz="1400" b="1">
                <a:solidFill>
                  <a:srgbClr val="FFFFFF"/>
                </a:solidFill>
                <a:latin typeface="Aptos"/>
              </a:rPr>
              <a:t>SUBJECT</a:t>
            </a:r>
          </a:p>
        </p:txBody>
      </p:sp>
      <p:sp>
        <p:nvSpPr>
          <p:cNvPr id="5" name="Rectangle 4"/>
          <p:cNvSpPr/>
          <p:nvPr/>
        </p:nvSpPr>
        <p:spPr>
          <a:xfrm>
            <a:off x="9386316" y="1856232"/>
            <a:ext cx="22860" cy="475488"/>
          </a:xfrm>
          <a:prstGeom prst="rect">
            <a:avLst/>
          </a:prstGeom>
          <a:solidFill>
            <a:srgbClr val="22B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189720" y="2331720"/>
            <a:ext cx="438912" cy="438912"/>
          </a:xfrm>
          <a:prstGeom prst="ellipse">
            <a:avLst/>
          </a:prstGeom>
          <a:solidFill>
            <a:srgbClr val="22B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29800" y="2368296"/>
            <a:ext cx="1737360" cy="320040"/>
          </a:xfrm>
          <a:prstGeom prst="rect">
            <a:avLst/>
          </a:prstGeom>
          <a:noFill/>
        </p:spPr>
        <p:txBody>
          <a:bodyPr wrap="square" lIns="18288" tIns="18288" rIns="18288" bIns="18288" anchor="t">
            <a:spAutoFit/>
          </a:bodyPr>
          <a:lstStyle/>
          <a:p>
            <a:pPr algn="l"/>
            <a:r>
              <a:rPr sz="1400" b="1">
                <a:solidFill>
                  <a:srgbClr val="FFFFFF"/>
                </a:solidFill>
                <a:latin typeface="Aptos"/>
              </a:rPr>
              <a:t>TASK</a:t>
            </a:r>
          </a:p>
        </p:txBody>
      </p:sp>
      <p:sp>
        <p:nvSpPr>
          <p:cNvPr id="8" name="Rectangle 7"/>
          <p:cNvSpPr/>
          <p:nvPr/>
        </p:nvSpPr>
        <p:spPr>
          <a:xfrm>
            <a:off x="9386316" y="2770632"/>
            <a:ext cx="22860" cy="475488"/>
          </a:xfrm>
          <a:prstGeom prst="rect">
            <a:avLst/>
          </a:prstGeom>
          <a:solidFill>
            <a:srgbClr val="22B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9189720" y="3246120"/>
            <a:ext cx="438912" cy="438912"/>
          </a:xfrm>
          <a:prstGeom prst="ellipse">
            <a:avLst/>
          </a:prstGeom>
          <a:solidFill>
            <a:srgbClr val="22B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829800" y="3282696"/>
            <a:ext cx="1737360" cy="320040"/>
          </a:xfrm>
          <a:prstGeom prst="rect">
            <a:avLst/>
          </a:prstGeom>
          <a:noFill/>
        </p:spPr>
        <p:txBody>
          <a:bodyPr wrap="square" lIns="18288" tIns="18288" rIns="18288" bIns="18288" anchor="t">
            <a:spAutoFit/>
          </a:bodyPr>
          <a:lstStyle/>
          <a:p>
            <a:pPr algn="l"/>
            <a:r>
              <a:rPr sz="1400" b="1">
                <a:solidFill>
                  <a:srgbClr val="FFFFFF"/>
                </a:solidFill>
                <a:latin typeface="Aptos"/>
              </a:rPr>
              <a:t>STUDY PLAN</a:t>
            </a:r>
          </a:p>
        </p:txBody>
      </p:sp>
      <p:sp>
        <p:nvSpPr>
          <p:cNvPr id="11" name="Rectangle 10"/>
          <p:cNvSpPr/>
          <p:nvPr/>
        </p:nvSpPr>
        <p:spPr>
          <a:xfrm>
            <a:off x="9386316" y="3685031"/>
            <a:ext cx="22860" cy="475488"/>
          </a:xfrm>
          <a:prstGeom prst="rect">
            <a:avLst/>
          </a:prstGeom>
          <a:solidFill>
            <a:srgbClr val="22B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9189720" y="4160520"/>
            <a:ext cx="438912" cy="438912"/>
          </a:xfrm>
          <a:prstGeom prst="ellipse">
            <a:avLst/>
          </a:prstGeom>
          <a:solidFill>
            <a:srgbClr val="22B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829800" y="4197096"/>
            <a:ext cx="1737360" cy="320040"/>
          </a:xfrm>
          <a:prstGeom prst="rect">
            <a:avLst/>
          </a:prstGeom>
          <a:noFill/>
        </p:spPr>
        <p:txBody>
          <a:bodyPr wrap="square" lIns="18288" tIns="18288" rIns="18288" bIns="18288" anchor="t">
            <a:spAutoFit/>
          </a:bodyPr>
          <a:lstStyle/>
          <a:p>
            <a:pPr algn="l"/>
            <a:r>
              <a:rPr sz="1400" b="1">
                <a:solidFill>
                  <a:srgbClr val="FFFFFF"/>
                </a:solidFill>
                <a:latin typeface="Aptos"/>
              </a:rPr>
              <a:t>QUIZ</a:t>
            </a:r>
          </a:p>
        </p:txBody>
      </p:sp>
      <p:sp>
        <p:nvSpPr>
          <p:cNvPr id="14" name="Rectangle 13"/>
          <p:cNvSpPr/>
          <p:nvPr/>
        </p:nvSpPr>
        <p:spPr>
          <a:xfrm>
            <a:off x="9386316" y="4599431"/>
            <a:ext cx="22860" cy="475488"/>
          </a:xfrm>
          <a:prstGeom prst="rect">
            <a:avLst/>
          </a:prstGeom>
          <a:solidFill>
            <a:srgbClr val="22B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9189720" y="5074920"/>
            <a:ext cx="438912" cy="438912"/>
          </a:xfrm>
          <a:prstGeom prst="ellipse">
            <a:avLst/>
          </a:prstGeom>
          <a:solidFill>
            <a:srgbClr val="E7C2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829800" y="5111496"/>
            <a:ext cx="1737360" cy="320040"/>
          </a:xfrm>
          <a:prstGeom prst="rect">
            <a:avLst/>
          </a:prstGeom>
          <a:noFill/>
        </p:spPr>
        <p:txBody>
          <a:bodyPr wrap="square" lIns="18288" tIns="18288" rIns="18288" bIns="18288" anchor="t">
            <a:spAutoFit/>
          </a:bodyPr>
          <a:lstStyle/>
          <a:p>
            <a:pPr algn="l"/>
            <a:r>
              <a:rPr sz="1400" b="1">
                <a:solidFill>
                  <a:srgbClr val="FFFFFF"/>
                </a:solidFill>
                <a:latin typeface="Aptos"/>
              </a:rPr>
              <a:t>SCORE</a:t>
            </a:r>
          </a:p>
        </p:txBody>
      </p:sp>
      <p:sp>
        <p:nvSpPr>
          <p:cNvPr id="17" name="TextBox 16"/>
          <p:cNvSpPr txBox="1"/>
          <p:nvPr/>
        </p:nvSpPr>
        <p:spPr>
          <a:xfrm>
            <a:off x="777240" y="914400"/>
            <a:ext cx="6949440" cy="320040"/>
          </a:xfrm>
          <a:prstGeom prst="rect">
            <a:avLst/>
          </a:prstGeom>
          <a:noFill/>
        </p:spPr>
        <p:txBody>
          <a:bodyPr wrap="square" lIns="18288" tIns="18288" rIns="18288" bIns="18288" anchor="t">
            <a:spAutoFit/>
          </a:bodyPr>
          <a:lstStyle/>
          <a:p>
            <a:pPr algn="l"/>
            <a:r>
              <a:rPr sz="1300" b="1" dirty="0">
                <a:solidFill>
                  <a:srgbClr val="22B7BE"/>
                </a:solidFill>
                <a:latin typeface="Aptos"/>
              </a:rPr>
              <a:t>MIDTERM PRESENTATION</a:t>
            </a:r>
          </a:p>
        </p:txBody>
      </p:sp>
      <p:sp>
        <p:nvSpPr>
          <p:cNvPr id="18" name="TextBox 17"/>
          <p:cNvSpPr txBox="1"/>
          <p:nvPr/>
        </p:nvSpPr>
        <p:spPr>
          <a:xfrm>
            <a:off x="777240" y="1600200"/>
            <a:ext cx="7315200" cy="1600200"/>
          </a:xfrm>
          <a:prstGeom prst="rect">
            <a:avLst/>
          </a:prstGeom>
          <a:noFill/>
        </p:spPr>
        <p:txBody>
          <a:bodyPr wrap="square" lIns="18288" tIns="18288" rIns="18288" bIns="18288" anchor="t">
            <a:spAutoFit/>
          </a:bodyPr>
          <a:lstStyle/>
          <a:p>
            <a:pPr algn="l"/>
            <a:r>
              <a:rPr sz="3600" b="1">
                <a:solidFill>
                  <a:srgbClr val="FFFFFF"/>
                </a:solidFill>
                <a:latin typeface="Aptos"/>
              </a:rPr>
              <a:t>Smart Study
Companion</a:t>
            </a:r>
          </a:p>
        </p:txBody>
      </p:sp>
      <p:sp>
        <p:nvSpPr>
          <p:cNvPr id="19" name="TextBox 18"/>
          <p:cNvSpPr txBox="1"/>
          <p:nvPr/>
        </p:nvSpPr>
        <p:spPr>
          <a:xfrm>
            <a:off x="822960" y="3520440"/>
            <a:ext cx="6858000" cy="822960"/>
          </a:xfrm>
          <a:prstGeom prst="rect">
            <a:avLst/>
          </a:prstGeom>
          <a:noFill/>
        </p:spPr>
        <p:txBody>
          <a:bodyPr wrap="square" lIns="18288" tIns="18288" rIns="18288" bIns="18288" anchor="t">
            <a:spAutoFit/>
          </a:bodyPr>
          <a:lstStyle/>
          <a:p>
            <a:pPr algn="l"/>
            <a:r>
              <a:rPr sz="2000" b="0" dirty="0">
                <a:solidFill>
                  <a:srgbClr val="D5E1EA"/>
                </a:solidFill>
                <a:latin typeface="Aptos"/>
              </a:rPr>
              <a:t>A simple workflow for organizing study tasks and checking learning progress</a:t>
            </a:r>
          </a:p>
        </p:txBody>
      </p:sp>
      <p:sp>
        <p:nvSpPr>
          <p:cNvPr id="20" name="TextBox 19"/>
          <p:cNvSpPr txBox="1"/>
          <p:nvPr/>
        </p:nvSpPr>
        <p:spPr>
          <a:xfrm>
            <a:off x="822960" y="5074920"/>
            <a:ext cx="5029200" cy="252377"/>
          </a:xfrm>
          <a:prstGeom prst="rect">
            <a:avLst/>
          </a:prstGeom>
          <a:noFill/>
        </p:spPr>
        <p:txBody>
          <a:bodyPr wrap="square" lIns="18288" tIns="18288" rIns="18288" bIns="18288" anchor="t">
            <a:spAutoFit/>
          </a:bodyPr>
          <a:lstStyle/>
          <a:p>
            <a:pPr algn="l"/>
            <a:r>
              <a:rPr sz="1400" b="1" dirty="0">
                <a:solidFill>
                  <a:srgbClr val="E7C24D"/>
                </a:solidFill>
                <a:latin typeface="Aptos"/>
              </a:rPr>
              <a:t>TEAM 5  </a:t>
            </a:r>
          </a:p>
        </p:txBody>
      </p:sp>
      <p:sp>
        <p:nvSpPr>
          <p:cNvPr id="21" name="TextBox 20"/>
          <p:cNvSpPr txBox="1"/>
          <p:nvPr/>
        </p:nvSpPr>
        <p:spPr>
          <a:xfrm>
            <a:off x="822960" y="5532120"/>
            <a:ext cx="5943600" cy="236988"/>
          </a:xfrm>
          <a:prstGeom prst="rect">
            <a:avLst/>
          </a:prstGeom>
          <a:noFill/>
        </p:spPr>
        <p:txBody>
          <a:bodyPr wrap="square" lIns="18288" tIns="18288" rIns="18288" bIns="18288" anchor="t">
            <a:spAutoFit/>
          </a:bodyPr>
          <a:lstStyle/>
          <a:p>
            <a:pPr algn="l"/>
            <a:r>
              <a:rPr lang="en-US" sz="1300" dirty="0">
                <a:solidFill>
                  <a:srgbClr val="BECDD8"/>
                </a:solidFill>
                <a:latin typeface="Aptos"/>
              </a:rPr>
              <a:t>Nabin Khadka, Sumit Adhikari, Prince Karki, Prabin Rai, J.N. Taj Oli</a:t>
            </a:r>
            <a:endParaRPr sz="1300" b="0" dirty="0">
              <a:solidFill>
                <a:srgbClr val="BECDD8"/>
              </a:solidFill>
              <a:latin typeface="Aptos"/>
            </a:endParaRPr>
          </a:p>
        </p:txBody>
      </p:sp>
      <p:sp>
        <p:nvSpPr>
          <p:cNvPr id="22" name="TextBox 21"/>
          <p:cNvSpPr txBox="1"/>
          <p:nvPr/>
        </p:nvSpPr>
        <p:spPr>
          <a:xfrm>
            <a:off x="11109960" y="6473952"/>
            <a:ext cx="457200" cy="182880"/>
          </a:xfrm>
          <a:prstGeom prst="rect">
            <a:avLst/>
          </a:prstGeom>
          <a:noFill/>
        </p:spPr>
        <p:txBody>
          <a:bodyPr wrap="square" lIns="18288" tIns="18288" rIns="18288" bIns="18288" anchor="t">
            <a:spAutoFit/>
          </a:bodyPr>
          <a:lstStyle/>
          <a:p>
            <a:pPr algn="r"/>
            <a:r>
              <a:rPr sz="900" b="1">
                <a:solidFill>
                  <a:srgbClr val="BECDD8"/>
                </a:solidFill>
                <a:latin typeface="Aptos"/>
              </a:rP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22B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713232"/>
            <a:ext cx="10789920" cy="467820"/>
          </a:xfrm>
          <a:prstGeom prst="rect">
            <a:avLst/>
          </a:prstGeom>
          <a:noFill/>
        </p:spPr>
        <p:txBody>
          <a:bodyPr wrap="square" lIns="18288" tIns="18288" rIns="18288" bIns="18288" anchor="t">
            <a:spAutoFit/>
          </a:bodyPr>
          <a:lstStyle/>
          <a:p>
            <a:pPr algn="l"/>
            <a:r>
              <a:rPr lang="en-US" sz="2800" b="1" dirty="0">
                <a:solidFill>
                  <a:srgbClr val="142742"/>
                </a:solidFill>
                <a:latin typeface="Aptos"/>
              </a:rPr>
              <a:t>Introduction</a:t>
            </a:r>
            <a:endParaRPr sz="2800" b="1" dirty="0">
              <a:solidFill>
                <a:srgbClr val="142742"/>
              </a:solidFill>
              <a:latin typeface="Aptos"/>
            </a:endParaRPr>
          </a:p>
        </p:txBody>
      </p:sp>
      <p:sp>
        <p:nvSpPr>
          <p:cNvPr id="6" name="TextBox 5"/>
          <p:cNvSpPr txBox="1"/>
          <p:nvPr/>
        </p:nvSpPr>
        <p:spPr>
          <a:xfrm>
            <a:off x="594360" y="6510528"/>
            <a:ext cx="6400800" cy="182880"/>
          </a:xfrm>
          <a:prstGeom prst="rect">
            <a:avLst/>
          </a:prstGeom>
          <a:noFill/>
        </p:spPr>
        <p:txBody>
          <a:bodyPr wrap="square" lIns="18288" tIns="18288" rIns="18288" bIns="18288" anchor="t">
            <a:spAutoFit/>
          </a:bodyPr>
          <a:lstStyle/>
          <a:p>
            <a:pPr algn="l"/>
            <a:r>
              <a:rPr sz="900" b="1">
                <a:solidFill>
                  <a:srgbClr val="647382"/>
                </a:solidFill>
                <a:latin typeface="Aptos"/>
              </a:rPr>
              <a:t>TEAM 5  |  SMART STUDY COMPANION</a:t>
            </a:r>
          </a:p>
        </p:txBody>
      </p:sp>
      <p:sp>
        <p:nvSpPr>
          <p:cNvPr id="14" name="TextBox 13">
            <a:extLst>
              <a:ext uri="{FF2B5EF4-FFF2-40B4-BE49-F238E27FC236}">
                <a16:creationId xmlns:a16="http://schemas.microsoft.com/office/drawing/2014/main" id="{F3A80451-EFF8-DCCB-A103-20C41888B194}"/>
              </a:ext>
            </a:extLst>
          </p:cNvPr>
          <p:cNvSpPr txBox="1"/>
          <p:nvPr/>
        </p:nvSpPr>
        <p:spPr>
          <a:xfrm>
            <a:off x="658368" y="1645920"/>
            <a:ext cx="9765792" cy="3477875"/>
          </a:xfrm>
          <a:prstGeom prst="rect">
            <a:avLst/>
          </a:prstGeom>
          <a:noFill/>
        </p:spPr>
        <p:txBody>
          <a:bodyPr wrap="square" rtlCol="0">
            <a:spAutoFit/>
          </a:bodyPr>
          <a:lstStyle/>
          <a:p>
            <a:r>
              <a:rPr lang="en-US" sz="2000" dirty="0"/>
              <a:t>Smart Study Companion is a web-based application designed to help college students organize their academic activities in one convenient platform. The application allows students to manage subjects, create study tasks with deadlines, track task completion through a study plan, and assess their understanding through subject-based multiple-choice quizzes. It also displays quiz scores and helps maintain relevant study data after the browser is refreshed. The primary objective of this project is to make study management more organized, accessible, and efficient for students. In this project, we have focused on developing a simple and functional minimum viable product (MVP) that demonstrates the complete student workflow, from subject and task management to quiz completion and score review. Through this presentation, we will explain the project’s objectives, scope, key features, current implementation, testing evidence, challenges, and future improvements.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22B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6510528"/>
            <a:ext cx="6400800" cy="182880"/>
          </a:xfrm>
          <a:prstGeom prst="rect">
            <a:avLst/>
          </a:prstGeom>
          <a:noFill/>
        </p:spPr>
        <p:txBody>
          <a:bodyPr wrap="square" lIns="18288" tIns="18288" rIns="18288" bIns="18288" anchor="t">
            <a:spAutoFit/>
          </a:bodyPr>
          <a:lstStyle/>
          <a:p>
            <a:pPr algn="l"/>
            <a:r>
              <a:rPr sz="900" b="1">
                <a:solidFill>
                  <a:srgbClr val="647382"/>
                </a:solidFill>
                <a:latin typeface="Aptos"/>
              </a:rPr>
              <a:t>TEAM 5  |  SMART STUDY COMPANION</a:t>
            </a:r>
          </a:p>
        </p:txBody>
      </p:sp>
      <p:sp>
        <p:nvSpPr>
          <p:cNvPr id="26" name="TextBox 25">
            <a:extLst>
              <a:ext uri="{FF2B5EF4-FFF2-40B4-BE49-F238E27FC236}">
                <a16:creationId xmlns:a16="http://schemas.microsoft.com/office/drawing/2014/main" id="{AB83C196-D96C-611B-9114-A91915E6F89C}"/>
              </a:ext>
            </a:extLst>
          </p:cNvPr>
          <p:cNvSpPr txBox="1"/>
          <p:nvPr/>
        </p:nvSpPr>
        <p:spPr>
          <a:xfrm>
            <a:off x="768096" y="740664"/>
            <a:ext cx="2907463" cy="461665"/>
          </a:xfrm>
          <a:prstGeom prst="rect">
            <a:avLst/>
          </a:prstGeom>
          <a:noFill/>
        </p:spPr>
        <p:txBody>
          <a:bodyPr wrap="none" rtlCol="0">
            <a:spAutoFit/>
          </a:bodyPr>
          <a:lstStyle/>
          <a:p>
            <a:r>
              <a:rPr lang="en-US" sz="2400" b="1" dirty="0">
                <a:solidFill>
                  <a:srgbClr val="142742"/>
                </a:solidFill>
                <a:latin typeface="Aptos"/>
              </a:rPr>
              <a:t>Problem Statement</a:t>
            </a:r>
            <a:endParaRPr lang="en-US" sz="2400" dirty="0"/>
          </a:p>
        </p:txBody>
      </p:sp>
      <p:sp>
        <p:nvSpPr>
          <p:cNvPr id="27" name="TextBox 26">
            <a:extLst>
              <a:ext uri="{FF2B5EF4-FFF2-40B4-BE49-F238E27FC236}">
                <a16:creationId xmlns:a16="http://schemas.microsoft.com/office/drawing/2014/main" id="{8FE1D823-97D4-D26F-1855-39D779C2A708}"/>
              </a:ext>
            </a:extLst>
          </p:cNvPr>
          <p:cNvSpPr txBox="1"/>
          <p:nvPr/>
        </p:nvSpPr>
        <p:spPr>
          <a:xfrm>
            <a:off x="768096" y="1298448"/>
            <a:ext cx="10497312" cy="2677656"/>
          </a:xfrm>
          <a:prstGeom prst="rect">
            <a:avLst/>
          </a:prstGeom>
          <a:noFill/>
        </p:spPr>
        <p:txBody>
          <a:bodyPr wrap="square" rtlCol="0">
            <a:spAutoFit/>
          </a:bodyPr>
          <a:lstStyle/>
          <a:p>
            <a:r>
              <a:rPr lang="en-US" sz="2400" dirty="0"/>
              <a:t>The primary target audience of Smart Study Companion is college students who need to manage multiple subjects, assignments, study tasks, and examination preparation. It is especially useful for students who want to organize their academic responsibilities in one place, keep track of deadlines, monitor their study progress, and practice their knowledge through quizzes. The application is designed for students who need a simple and convenient way to manage their daily study activities without using multiple separate tools.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22B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713232"/>
            <a:ext cx="10789920" cy="467820"/>
          </a:xfrm>
          <a:prstGeom prst="rect">
            <a:avLst/>
          </a:prstGeom>
          <a:noFill/>
        </p:spPr>
        <p:txBody>
          <a:bodyPr wrap="square" lIns="18288" tIns="18288" rIns="18288" bIns="18288" anchor="t">
            <a:spAutoFit/>
          </a:bodyPr>
          <a:lstStyle/>
          <a:p>
            <a:pPr algn="l"/>
            <a:r>
              <a:rPr lang="en-US" sz="2800" b="1" dirty="0">
                <a:solidFill>
                  <a:srgbClr val="142742"/>
                </a:solidFill>
                <a:latin typeface="Aptos"/>
              </a:rPr>
              <a:t>Objectives of the Project</a:t>
            </a:r>
          </a:p>
        </p:txBody>
      </p:sp>
      <p:sp>
        <p:nvSpPr>
          <p:cNvPr id="6" name="TextBox 5"/>
          <p:cNvSpPr txBox="1"/>
          <p:nvPr/>
        </p:nvSpPr>
        <p:spPr>
          <a:xfrm>
            <a:off x="594360" y="6510528"/>
            <a:ext cx="6400800" cy="182880"/>
          </a:xfrm>
          <a:prstGeom prst="rect">
            <a:avLst/>
          </a:prstGeom>
          <a:noFill/>
        </p:spPr>
        <p:txBody>
          <a:bodyPr wrap="square" lIns="18288" tIns="18288" rIns="18288" bIns="18288" anchor="t">
            <a:spAutoFit/>
          </a:bodyPr>
          <a:lstStyle/>
          <a:p>
            <a:pPr algn="l"/>
            <a:r>
              <a:rPr sz="900" b="1">
                <a:solidFill>
                  <a:srgbClr val="647382"/>
                </a:solidFill>
                <a:latin typeface="Aptos"/>
              </a:rPr>
              <a:t>TEAM 5  |  SMART STUDY COMPANION</a:t>
            </a:r>
          </a:p>
        </p:txBody>
      </p:sp>
      <p:sp>
        <p:nvSpPr>
          <p:cNvPr id="8" name="TextBox 7"/>
          <p:cNvSpPr txBox="1"/>
          <p:nvPr/>
        </p:nvSpPr>
        <p:spPr>
          <a:xfrm>
            <a:off x="822960" y="1600200"/>
            <a:ext cx="10296144" cy="4961358"/>
          </a:xfrm>
          <a:prstGeom prst="rect">
            <a:avLst/>
          </a:prstGeom>
          <a:noFill/>
        </p:spPr>
        <p:txBody>
          <a:bodyPr wrap="square" lIns="18288" tIns="18288" rIns="18288" bIns="18288" anchor="t">
            <a:spAutoFit/>
          </a:bodyPr>
          <a:lstStyle/>
          <a:p>
            <a:pPr marL="342900" lvl="0" indent="-342900">
              <a:buFont typeface="Arial" panose="020B0604020202020204" pitchFamily="34" charset="0"/>
              <a:buChar char="•"/>
            </a:pPr>
            <a:r>
              <a:rPr lang="en-US" sz="2000" b="1" dirty="0"/>
              <a:t>Subject Management: </a:t>
            </a:r>
            <a:r>
              <a:rPr lang="en-US" sz="2000" dirty="0"/>
              <a:t>Allow students to create and organize their academic subjects in one 							platform.</a:t>
            </a:r>
          </a:p>
          <a:p>
            <a:pPr marL="342900" lvl="0" indent="-342900">
              <a:buFont typeface="Arial" panose="020B0604020202020204" pitchFamily="34" charset="0"/>
              <a:buChar char="•"/>
            </a:pPr>
            <a:r>
              <a:rPr lang="en-US" sz="2000" b="1" dirty="0"/>
              <a:t>Study Task Management: </a:t>
            </a:r>
            <a:r>
              <a:rPr lang="en-US" sz="2000" dirty="0"/>
              <a:t>Enable students to create study tasks and assign deadline.</a:t>
            </a:r>
          </a:p>
          <a:p>
            <a:pPr marL="342900" lvl="0" indent="-342900">
              <a:buFont typeface="Arial" panose="020B0604020202020204" pitchFamily="34" charset="0"/>
              <a:buChar char="•"/>
            </a:pPr>
            <a:r>
              <a:rPr lang="en-US" sz="2000" b="1" dirty="0"/>
              <a:t>Study Planning: </a:t>
            </a:r>
            <a:r>
              <a:rPr lang="en-US" sz="2000" dirty="0"/>
              <a:t>Provide a Study Plan where students can view and manage their study tasks.</a:t>
            </a:r>
          </a:p>
          <a:p>
            <a:pPr marL="342900" lvl="0" indent="-342900">
              <a:buFont typeface="Arial" panose="020B0604020202020204" pitchFamily="34" charset="0"/>
              <a:buChar char="•"/>
            </a:pPr>
            <a:r>
              <a:rPr lang="en-US" sz="2000" b="1" dirty="0"/>
              <a:t>Progress Tracking: </a:t>
            </a:r>
            <a:r>
              <a:rPr lang="en-US" sz="2000" dirty="0"/>
              <a:t>Allow students to mark tasks as completed and identify unfinished tasks.</a:t>
            </a:r>
          </a:p>
          <a:p>
            <a:pPr marL="342900" lvl="0" indent="-342900">
              <a:buFont typeface="Arial" panose="020B0604020202020204" pitchFamily="34" charset="0"/>
              <a:buChar char="•"/>
            </a:pPr>
            <a:r>
              <a:rPr lang="en-US" sz="2000" b="1" dirty="0"/>
              <a:t>Knowledge Assessment: </a:t>
            </a:r>
            <a:r>
              <a:rPr lang="en-US" sz="2000" dirty="0"/>
              <a:t>Provide subject-based multiple-choice quizzes to help students test 							    their understanding.</a:t>
            </a:r>
          </a:p>
          <a:p>
            <a:pPr marL="342900" lvl="0" indent="-342900">
              <a:buFont typeface="Arial" panose="020B0604020202020204" pitchFamily="34" charset="0"/>
              <a:buChar char="•"/>
            </a:pPr>
            <a:r>
              <a:rPr lang="en-US" sz="2000" b="1" dirty="0"/>
              <a:t>Quiz Score Calculation: </a:t>
            </a:r>
            <a:r>
              <a:rPr lang="en-US" sz="2000" dirty="0"/>
              <a:t>Calculate and display quiz results so students can review their 								  performance.</a:t>
            </a:r>
          </a:p>
          <a:p>
            <a:pPr marL="342900" lvl="0" indent="-342900">
              <a:buFont typeface="Arial" panose="020B0604020202020204" pitchFamily="34" charset="0"/>
              <a:buChar char="•"/>
            </a:pPr>
            <a:r>
              <a:rPr lang="en-US" sz="2000" b="1" dirty="0"/>
              <a:t>Data Persistence: </a:t>
            </a:r>
            <a:r>
              <a:rPr lang="en-US" sz="2000" dirty="0"/>
              <a:t>Ensure that relevant subject, task, and completion data remains available 					       after refreshing the browser.</a:t>
            </a:r>
          </a:p>
          <a:p>
            <a:pPr marL="342900" lvl="0" indent="-342900">
              <a:buFont typeface="Arial" panose="020B0604020202020204" pitchFamily="34" charset="0"/>
              <a:buChar char="•"/>
            </a:pPr>
            <a:r>
              <a:rPr lang="en-US" sz="2000" b="1" dirty="0"/>
              <a:t>Convenient Study Management: </a:t>
            </a:r>
            <a:r>
              <a:rPr lang="en-US" sz="2000" dirty="0"/>
              <a:t>Combine essential study management and quiz features in 								one application, reducing the need to use multiple separate tools.</a:t>
            </a:r>
          </a:p>
          <a:p>
            <a:pPr marL="342900" lvl="0" indent="-342900">
              <a:buFont typeface="Arial" panose="020B0604020202020204" pitchFamily="34" charset="0"/>
              <a:buChar char="•"/>
            </a:pPr>
            <a:r>
              <a:rPr lang="en-US" sz="2000" b="1" dirty="0"/>
              <a:t>User-Friendly Experience: </a:t>
            </a:r>
            <a:r>
              <a:rPr lang="en-US" sz="2000" dirty="0"/>
              <a:t>Keep the application simple and easy for college and university 							       students to use.</a:t>
            </a:r>
          </a:p>
          <a:p>
            <a:pPr marL="342900" indent="-342900" algn="l">
              <a:buFont typeface="Arial" panose="020B0604020202020204" pitchFamily="34" charset="0"/>
              <a:buChar char="•"/>
            </a:pPr>
            <a:endParaRPr sz="2000" b="1" dirty="0">
              <a:solidFill>
                <a:srgbClr val="22B7BE"/>
              </a:solidFill>
              <a:latin typeface="Apto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22B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713232"/>
            <a:ext cx="10789920" cy="530352"/>
          </a:xfrm>
          <a:prstGeom prst="rect">
            <a:avLst/>
          </a:prstGeom>
          <a:noFill/>
        </p:spPr>
        <p:txBody>
          <a:bodyPr wrap="square" lIns="18288" tIns="18288" rIns="18288" bIns="18288" anchor="t">
            <a:spAutoFit/>
          </a:bodyPr>
          <a:lstStyle/>
          <a:p>
            <a:pPr algn="l"/>
            <a:r>
              <a:rPr sz="2800" b="1">
                <a:solidFill>
                  <a:srgbClr val="142742"/>
                </a:solidFill>
                <a:latin typeface="Aptos"/>
              </a:rPr>
              <a:t>One clear student path</a:t>
            </a:r>
          </a:p>
        </p:txBody>
      </p:sp>
      <p:sp>
        <p:nvSpPr>
          <p:cNvPr id="6" name="TextBox 5"/>
          <p:cNvSpPr txBox="1"/>
          <p:nvPr/>
        </p:nvSpPr>
        <p:spPr>
          <a:xfrm>
            <a:off x="594360" y="6510528"/>
            <a:ext cx="6400800" cy="182880"/>
          </a:xfrm>
          <a:prstGeom prst="rect">
            <a:avLst/>
          </a:prstGeom>
          <a:noFill/>
        </p:spPr>
        <p:txBody>
          <a:bodyPr wrap="square" lIns="18288" tIns="18288" rIns="18288" bIns="18288" anchor="t">
            <a:spAutoFit/>
          </a:bodyPr>
          <a:lstStyle/>
          <a:p>
            <a:pPr algn="l"/>
            <a:r>
              <a:rPr sz="900" b="1">
                <a:solidFill>
                  <a:srgbClr val="647382"/>
                </a:solidFill>
                <a:latin typeface="Aptos"/>
              </a:rPr>
              <a:t>TEAM 5  |  SMART STUDY COMPANION</a:t>
            </a:r>
          </a:p>
        </p:txBody>
      </p:sp>
      <p:sp>
        <p:nvSpPr>
          <p:cNvPr id="8" name="Rounded Rectangle 7"/>
          <p:cNvSpPr/>
          <p:nvPr/>
        </p:nvSpPr>
        <p:spPr>
          <a:xfrm>
            <a:off x="658368" y="2148840"/>
            <a:ext cx="1737360" cy="1508760"/>
          </a:xfrm>
          <a:prstGeom prst="roundRect">
            <a:avLst/>
          </a:prstGeom>
          <a:solidFill>
            <a:srgbClr val="EFF6F8"/>
          </a:solidFill>
          <a:ln>
            <a:solidFill>
              <a:srgbClr val="DC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95528" y="2331720"/>
            <a:ext cx="320040" cy="274320"/>
          </a:xfrm>
          <a:prstGeom prst="rect">
            <a:avLst/>
          </a:prstGeom>
          <a:noFill/>
        </p:spPr>
        <p:txBody>
          <a:bodyPr wrap="square" lIns="18288" tIns="18288" rIns="18288" bIns="18288" anchor="t">
            <a:spAutoFit/>
          </a:bodyPr>
          <a:lstStyle/>
          <a:p>
            <a:pPr algn="l"/>
            <a:r>
              <a:rPr sz="1200" b="1">
                <a:solidFill>
                  <a:srgbClr val="22B7BE"/>
                </a:solidFill>
                <a:latin typeface="Aptos"/>
              </a:rPr>
              <a:t>1</a:t>
            </a:r>
          </a:p>
        </p:txBody>
      </p:sp>
      <p:sp>
        <p:nvSpPr>
          <p:cNvPr id="10" name="TextBox 9"/>
          <p:cNvSpPr txBox="1"/>
          <p:nvPr/>
        </p:nvSpPr>
        <p:spPr>
          <a:xfrm>
            <a:off x="795528" y="2697480"/>
            <a:ext cx="1463040" cy="411480"/>
          </a:xfrm>
          <a:prstGeom prst="rect">
            <a:avLst/>
          </a:prstGeom>
          <a:noFill/>
        </p:spPr>
        <p:txBody>
          <a:bodyPr wrap="square" lIns="18288" tIns="18288" rIns="18288" bIns="18288" anchor="t">
            <a:spAutoFit/>
          </a:bodyPr>
          <a:lstStyle/>
          <a:p>
            <a:pPr algn="l"/>
            <a:r>
              <a:rPr sz="1500" b="1">
                <a:solidFill>
                  <a:srgbClr val="142742"/>
                </a:solidFill>
                <a:latin typeface="Aptos"/>
              </a:rPr>
              <a:t>Subject</a:t>
            </a:r>
          </a:p>
        </p:txBody>
      </p:sp>
      <p:sp>
        <p:nvSpPr>
          <p:cNvPr id="11" name="TextBox 10"/>
          <p:cNvSpPr txBox="1"/>
          <p:nvPr/>
        </p:nvSpPr>
        <p:spPr>
          <a:xfrm>
            <a:off x="795528" y="3182112"/>
            <a:ext cx="1463040" cy="320040"/>
          </a:xfrm>
          <a:prstGeom prst="rect">
            <a:avLst/>
          </a:prstGeom>
          <a:noFill/>
        </p:spPr>
        <p:txBody>
          <a:bodyPr wrap="square" lIns="18288" tIns="18288" rIns="18288" bIns="18288" anchor="t">
            <a:spAutoFit/>
          </a:bodyPr>
          <a:lstStyle/>
          <a:p>
            <a:pPr algn="l"/>
            <a:r>
              <a:rPr sz="1000" b="0">
                <a:solidFill>
                  <a:srgbClr val="647382"/>
                </a:solidFill>
                <a:latin typeface="Aptos"/>
              </a:rPr>
              <a:t>Select or create</a:t>
            </a:r>
          </a:p>
        </p:txBody>
      </p:sp>
      <p:sp>
        <p:nvSpPr>
          <p:cNvPr id="12" name="TextBox 11"/>
          <p:cNvSpPr txBox="1"/>
          <p:nvPr/>
        </p:nvSpPr>
        <p:spPr>
          <a:xfrm>
            <a:off x="2441448" y="2697480"/>
            <a:ext cx="411480" cy="320040"/>
          </a:xfrm>
          <a:prstGeom prst="rect">
            <a:avLst/>
          </a:prstGeom>
          <a:noFill/>
        </p:spPr>
        <p:txBody>
          <a:bodyPr wrap="square" lIns="18288" tIns="18288" rIns="18288" bIns="18288" anchor="t">
            <a:spAutoFit/>
          </a:bodyPr>
          <a:lstStyle/>
          <a:p>
            <a:pPr algn="ctr"/>
            <a:r>
              <a:rPr sz="2200" b="1">
                <a:solidFill>
                  <a:srgbClr val="22B7BE"/>
                </a:solidFill>
                <a:latin typeface="Aptos"/>
              </a:rPr>
              <a:t>→</a:t>
            </a:r>
          </a:p>
        </p:txBody>
      </p:sp>
      <p:sp>
        <p:nvSpPr>
          <p:cNvPr id="13" name="Rounded Rectangle 12"/>
          <p:cNvSpPr/>
          <p:nvPr/>
        </p:nvSpPr>
        <p:spPr>
          <a:xfrm>
            <a:off x="2944368" y="2148840"/>
            <a:ext cx="1737360" cy="1508760"/>
          </a:xfrm>
          <a:prstGeom prst="roundRect">
            <a:avLst/>
          </a:prstGeom>
          <a:solidFill>
            <a:srgbClr val="EFF6F8"/>
          </a:solidFill>
          <a:ln>
            <a:solidFill>
              <a:srgbClr val="DC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081528" y="2331720"/>
            <a:ext cx="320040" cy="274320"/>
          </a:xfrm>
          <a:prstGeom prst="rect">
            <a:avLst/>
          </a:prstGeom>
          <a:noFill/>
        </p:spPr>
        <p:txBody>
          <a:bodyPr wrap="square" lIns="18288" tIns="18288" rIns="18288" bIns="18288" anchor="t">
            <a:spAutoFit/>
          </a:bodyPr>
          <a:lstStyle/>
          <a:p>
            <a:pPr algn="l"/>
            <a:r>
              <a:rPr sz="1200" b="1">
                <a:solidFill>
                  <a:srgbClr val="22B7BE"/>
                </a:solidFill>
                <a:latin typeface="Aptos"/>
              </a:rPr>
              <a:t>2</a:t>
            </a:r>
          </a:p>
        </p:txBody>
      </p:sp>
      <p:sp>
        <p:nvSpPr>
          <p:cNvPr id="15" name="TextBox 14"/>
          <p:cNvSpPr txBox="1"/>
          <p:nvPr/>
        </p:nvSpPr>
        <p:spPr>
          <a:xfrm>
            <a:off x="3081528" y="2697480"/>
            <a:ext cx="1463040" cy="411480"/>
          </a:xfrm>
          <a:prstGeom prst="rect">
            <a:avLst/>
          </a:prstGeom>
          <a:noFill/>
        </p:spPr>
        <p:txBody>
          <a:bodyPr wrap="square" lIns="18288" tIns="18288" rIns="18288" bIns="18288" anchor="t">
            <a:spAutoFit/>
          </a:bodyPr>
          <a:lstStyle/>
          <a:p>
            <a:pPr algn="l"/>
            <a:r>
              <a:rPr sz="1500" b="1">
                <a:solidFill>
                  <a:srgbClr val="142742"/>
                </a:solidFill>
                <a:latin typeface="Aptos"/>
              </a:rPr>
              <a:t>Task + deadline</a:t>
            </a:r>
          </a:p>
        </p:txBody>
      </p:sp>
      <p:sp>
        <p:nvSpPr>
          <p:cNvPr id="16" name="TextBox 15"/>
          <p:cNvSpPr txBox="1"/>
          <p:nvPr/>
        </p:nvSpPr>
        <p:spPr>
          <a:xfrm>
            <a:off x="3081528" y="3182112"/>
            <a:ext cx="1463040" cy="320040"/>
          </a:xfrm>
          <a:prstGeom prst="rect">
            <a:avLst/>
          </a:prstGeom>
          <a:noFill/>
        </p:spPr>
        <p:txBody>
          <a:bodyPr wrap="square" lIns="18288" tIns="18288" rIns="18288" bIns="18288" anchor="t">
            <a:spAutoFit/>
          </a:bodyPr>
          <a:lstStyle/>
          <a:p>
            <a:pPr algn="l"/>
            <a:r>
              <a:rPr sz="1000" b="0">
                <a:solidFill>
                  <a:srgbClr val="647382"/>
                </a:solidFill>
                <a:latin typeface="Aptos"/>
              </a:rPr>
              <a:t>Add study task</a:t>
            </a:r>
          </a:p>
        </p:txBody>
      </p:sp>
      <p:sp>
        <p:nvSpPr>
          <p:cNvPr id="17" name="TextBox 16"/>
          <p:cNvSpPr txBox="1"/>
          <p:nvPr/>
        </p:nvSpPr>
        <p:spPr>
          <a:xfrm>
            <a:off x="4727448" y="2697480"/>
            <a:ext cx="411480" cy="320040"/>
          </a:xfrm>
          <a:prstGeom prst="rect">
            <a:avLst/>
          </a:prstGeom>
          <a:noFill/>
        </p:spPr>
        <p:txBody>
          <a:bodyPr wrap="square" lIns="18288" tIns="18288" rIns="18288" bIns="18288" anchor="t">
            <a:spAutoFit/>
          </a:bodyPr>
          <a:lstStyle/>
          <a:p>
            <a:pPr algn="ctr"/>
            <a:r>
              <a:rPr sz="2200" b="1">
                <a:solidFill>
                  <a:srgbClr val="22B7BE"/>
                </a:solidFill>
                <a:latin typeface="Aptos"/>
              </a:rPr>
              <a:t>→</a:t>
            </a:r>
          </a:p>
        </p:txBody>
      </p:sp>
      <p:sp>
        <p:nvSpPr>
          <p:cNvPr id="18" name="Rounded Rectangle 17"/>
          <p:cNvSpPr/>
          <p:nvPr/>
        </p:nvSpPr>
        <p:spPr>
          <a:xfrm>
            <a:off x="5230368" y="2148840"/>
            <a:ext cx="1737360" cy="1508760"/>
          </a:xfrm>
          <a:prstGeom prst="roundRect">
            <a:avLst/>
          </a:prstGeom>
          <a:solidFill>
            <a:srgbClr val="EFF6F8"/>
          </a:solidFill>
          <a:ln>
            <a:solidFill>
              <a:srgbClr val="DC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367528" y="2331720"/>
            <a:ext cx="320040" cy="274320"/>
          </a:xfrm>
          <a:prstGeom prst="rect">
            <a:avLst/>
          </a:prstGeom>
          <a:noFill/>
        </p:spPr>
        <p:txBody>
          <a:bodyPr wrap="square" lIns="18288" tIns="18288" rIns="18288" bIns="18288" anchor="t">
            <a:spAutoFit/>
          </a:bodyPr>
          <a:lstStyle/>
          <a:p>
            <a:pPr algn="l"/>
            <a:r>
              <a:rPr sz="1200" b="1">
                <a:solidFill>
                  <a:srgbClr val="22B7BE"/>
                </a:solidFill>
                <a:latin typeface="Aptos"/>
              </a:rPr>
              <a:t>3</a:t>
            </a:r>
          </a:p>
        </p:txBody>
      </p:sp>
      <p:sp>
        <p:nvSpPr>
          <p:cNvPr id="20" name="TextBox 19"/>
          <p:cNvSpPr txBox="1"/>
          <p:nvPr/>
        </p:nvSpPr>
        <p:spPr>
          <a:xfrm>
            <a:off x="5367528" y="2697480"/>
            <a:ext cx="1463040" cy="411480"/>
          </a:xfrm>
          <a:prstGeom prst="rect">
            <a:avLst/>
          </a:prstGeom>
          <a:noFill/>
        </p:spPr>
        <p:txBody>
          <a:bodyPr wrap="square" lIns="18288" tIns="18288" rIns="18288" bIns="18288" anchor="t">
            <a:spAutoFit/>
          </a:bodyPr>
          <a:lstStyle/>
          <a:p>
            <a:pPr algn="l"/>
            <a:r>
              <a:rPr sz="1500" b="1">
                <a:solidFill>
                  <a:srgbClr val="142742"/>
                </a:solidFill>
                <a:latin typeface="Aptos"/>
              </a:rPr>
              <a:t>Study Plan</a:t>
            </a:r>
          </a:p>
        </p:txBody>
      </p:sp>
      <p:sp>
        <p:nvSpPr>
          <p:cNvPr id="21" name="TextBox 20"/>
          <p:cNvSpPr txBox="1"/>
          <p:nvPr/>
        </p:nvSpPr>
        <p:spPr>
          <a:xfrm>
            <a:off x="5367528" y="3182112"/>
            <a:ext cx="1463040" cy="320040"/>
          </a:xfrm>
          <a:prstGeom prst="rect">
            <a:avLst/>
          </a:prstGeom>
          <a:noFill/>
        </p:spPr>
        <p:txBody>
          <a:bodyPr wrap="square" lIns="18288" tIns="18288" rIns="18288" bIns="18288" anchor="t">
            <a:spAutoFit/>
          </a:bodyPr>
          <a:lstStyle/>
          <a:p>
            <a:pPr algn="l"/>
            <a:r>
              <a:rPr sz="1000" b="0">
                <a:solidFill>
                  <a:srgbClr val="647382"/>
                </a:solidFill>
                <a:latin typeface="Aptos"/>
              </a:rPr>
              <a:t>Mark complete</a:t>
            </a:r>
          </a:p>
        </p:txBody>
      </p:sp>
      <p:sp>
        <p:nvSpPr>
          <p:cNvPr id="22" name="TextBox 21"/>
          <p:cNvSpPr txBox="1"/>
          <p:nvPr/>
        </p:nvSpPr>
        <p:spPr>
          <a:xfrm>
            <a:off x="7013448" y="2697480"/>
            <a:ext cx="411480" cy="320040"/>
          </a:xfrm>
          <a:prstGeom prst="rect">
            <a:avLst/>
          </a:prstGeom>
          <a:noFill/>
        </p:spPr>
        <p:txBody>
          <a:bodyPr wrap="square" lIns="18288" tIns="18288" rIns="18288" bIns="18288" anchor="t">
            <a:spAutoFit/>
          </a:bodyPr>
          <a:lstStyle/>
          <a:p>
            <a:pPr algn="ctr"/>
            <a:r>
              <a:rPr sz="2200" b="1">
                <a:solidFill>
                  <a:srgbClr val="22B7BE"/>
                </a:solidFill>
                <a:latin typeface="Aptos"/>
              </a:rPr>
              <a:t>→</a:t>
            </a:r>
          </a:p>
        </p:txBody>
      </p:sp>
      <p:sp>
        <p:nvSpPr>
          <p:cNvPr id="23" name="Rounded Rectangle 22"/>
          <p:cNvSpPr/>
          <p:nvPr/>
        </p:nvSpPr>
        <p:spPr>
          <a:xfrm>
            <a:off x="7516368" y="2148840"/>
            <a:ext cx="1737360" cy="1508760"/>
          </a:xfrm>
          <a:prstGeom prst="roundRect">
            <a:avLst/>
          </a:prstGeom>
          <a:solidFill>
            <a:srgbClr val="EFF6F8"/>
          </a:solidFill>
          <a:ln>
            <a:solidFill>
              <a:srgbClr val="DC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653528" y="2331720"/>
            <a:ext cx="320040" cy="274320"/>
          </a:xfrm>
          <a:prstGeom prst="rect">
            <a:avLst/>
          </a:prstGeom>
          <a:noFill/>
        </p:spPr>
        <p:txBody>
          <a:bodyPr wrap="square" lIns="18288" tIns="18288" rIns="18288" bIns="18288" anchor="t">
            <a:spAutoFit/>
          </a:bodyPr>
          <a:lstStyle/>
          <a:p>
            <a:pPr algn="l"/>
            <a:r>
              <a:rPr sz="1200" b="1">
                <a:solidFill>
                  <a:srgbClr val="22B7BE"/>
                </a:solidFill>
                <a:latin typeface="Aptos"/>
              </a:rPr>
              <a:t>4</a:t>
            </a:r>
          </a:p>
        </p:txBody>
      </p:sp>
      <p:sp>
        <p:nvSpPr>
          <p:cNvPr id="25" name="TextBox 24"/>
          <p:cNvSpPr txBox="1"/>
          <p:nvPr/>
        </p:nvSpPr>
        <p:spPr>
          <a:xfrm>
            <a:off x="7653528" y="2697480"/>
            <a:ext cx="1463040" cy="411480"/>
          </a:xfrm>
          <a:prstGeom prst="rect">
            <a:avLst/>
          </a:prstGeom>
          <a:noFill/>
        </p:spPr>
        <p:txBody>
          <a:bodyPr wrap="square" lIns="18288" tIns="18288" rIns="18288" bIns="18288" anchor="t">
            <a:spAutoFit/>
          </a:bodyPr>
          <a:lstStyle/>
          <a:p>
            <a:pPr algn="l"/>
            <a:r>
              <a:rPr sz="1500" b="1">
                <a:solidFill>
                  <a:srgbClr val="142742"/>
                </a:solidFill>
                <a:latin typeface="Aptos"/>
              </a:rPr>
              <a:t>Quiz</a:t>
            </a:r>
          </a:p>
        </p:txBody>
      </p:sp>
      <p:sp>
        <p:nvSpPr>
          <p:cNvPr id="26" name="TextBox 25"/>
          <p:cNvSpPr txBox="1"/>
          <p:nvPr/>
        </p:nvSpPr>
        <p:spPr>
          <a:xfrm>
            <a:off x="7653528" y="3182112"/>
            <a:ext cx="1463040" cy="320040"/>
          </a:xfrm>
          <a:prstGeom prst="rect">
            <a:avLst/>
          </a:prstGeom>
          <a:noFill/>
        </p:spPr>
        <p:txBody>
          <a:bodyPr wrap="square" lIns="18288" tIns="18288" rIns="18288" bIns="18288" anchor="t">
            <a:spAutoFit/>
          </a:bodyPr>
          <a:lstStyle/>
          <a:p>
            <a:pPr algn="l"/>
            <a:r>
              <a:rPr sz="1000" b="0">
                <a:solidFill>
                  <a:srgbClr val="647382"/>
                </a:solidFill>
                <a:latin typeface="Aptos"/>
              </a:rPr>
              <a:t>Answer + submit</a:t>
            </a:r>
          </a:p>
        </p:txBody>
      </p:sp>
      <p:sp>
        <p:nvSpPr>
          <p:cNvPr id="27" name="TextBox 26"/>
          <p:cNvSpPr txBox="1"/>
          <p:nvPr/>
        </p:nvSpPr>
        <p:spPr>
          <a:xfrm>
            <a:off x="9299448" y="2697480"/>
            <a:ext cx="411480" cy="320040"/>
          </a:xfrm>
          <a:prstGeom prst="rect">
            <a:avLst/>
          </a:prstGeom>
          <a:noFill/>
        </p:spPr>
        <p:txBody>
          <a:bodyPr wrap="square" lIns="18288" tIns="18288" rIns="18288" bIns="18288" anchor="t">
            <a:spAutoFit/>
          </a:bodyPr>
          <a:lstStyle/>
          <a:p>
            <a:pPr algn="ctr"/>
            <a:r>
              <a:rPr sz="2200" b="1">
                <a:solidFill>
                  <a:srgbClr val="22B7BE"/>
                </a:solidFill>
                <a:latin typeface="Aptos"/>
              </a:rPr>
              <a:t>→</a:t>
            </a:r>
          </a:p>
        </p:txBody>
      </p:sp>
      <p:sp>
        <p:nvSpPr>
          <p:cNvPr id="28" name="Rounded Rectangle 27"/>
          <p:cNvSpPr/>
          <p:nvPr/>
        </p:nvSpPr>
        <p:spPr>
          <a:xfrm>
            <a:off x="9802368" y="2148840"/>
            <a:ext cx="1737360" cy="1508760"/>
          </a:xfrm>
          <a:prstGeom prst="roundRect">
            <a:avLst/>
          </a:prstGeom>
          <a:solidFill>
            <a:srgbClr val="FFF8DC"/>
          </a:solidFill>
          <a:ln>
            <a:solidFill>
              <a:srgbClr val="DC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939528" y="2331720"/>
            <a:ext cx="320040" cy="274320"/>
          </a:xfrm>
          <a:prstGeom prst="rect">
            <a:avLst/>
          </a:prstGeom>
          <a:noFill/>
        </p:spPr>
        <p:txBody>
          <a:bodyPr wrap="square" lIns="18288" tIns="18288" rIns="18288" bIns="18288" anchor="t">
            <a:spAutoFit/>
          </a:bodyPr>
          <a:lstStyle/>
          <a:p>
            <a:pPr algn="l"/>
            <a:r>
              <a:rPr sz="1200" b="1">
                <a:solidFill>
                  <a:srgbClr val="E7C24D"/>
                </a:solidFill>
                <a:latin typeface="Aptos"/>
              </a:rPr>
              <a:t>5</a:t>
            </a:r>
          </a:p>
        </p:txBody>
      </p:sp>
      <p:sp>
        <p:nvSpPr>
          <p:cNvPr id="30" name="TextBox 29"/>
          <p:cNvSpPr txBox="1"/>
          <p:nvPr/>
        </p:nvSpPr>
        <p:spPr>
          <a:xfrm>
            <a:off x="9939528" y="2697480"/>
            <a:ext cx="1463040" cy="411480"/>
          </a:xfrm>
          <a:prstGeom prst="rect">
            <a:avLst/>
          </a:prstGeom>
          <a:noFill/>
        </p:spPr>
        <p:txBody>
          <a:bodyPr wrap="square" lIns="18288" tIns="18288" rIns="18288" bIns="18288" anchor="t">
            <a:spAutoFit/>
          </a:bodyPr>
          <a:lstStyle/>
          <a:p>
            <a:pPr algn="l"/>
            <a:r>
              <a:rPr sz="1500" b="1">
                <a:solidFill>
                  <a:srgbClr val="142742"/>
                </a:solidFill>
                <a:latin typeface="Aptos"/>
              </a:rPr>
              <a:t>Score</a:t>
            </a:r>
          </a:p>
        </p:txBody>
      </p:sp>
      <p:sp>
        <p:nvSpPr>
          <p:cNvPr id="31" name="TextBox 30"/>
          <p:cNvSpPr txBox="1"/>
          <p:nvPr/>
        </p:nvSpPr>
        <p:spPr>
          <a:xfrm>
            <a:off x="9939528" y="3182112"/>
            <a:ext cx="1463040" cy="320040"/>
          </a:xfrm>
          <a:prstGeom prst="rect">
            <a:avLst/>
          </a:prstGeom>
          <a:noFill/>
        </p:spPr>
        <p:txBody>
          <a:bodyPr wrap="square" lIns="18288" tIns="18288" rIns="18288" bIns="18288" anchor="t">
            <a:spAutoFit/>
          </a:bodyPr>
          <a:lstStyle/>
          <a:p>
            <a:pPr algn="l"/>
            <a:r>
              <a:rPr sz="1000" b="0">
                <a:solidFill>
                  <a:srgbClr val="647382"/>
                </a:solidFill>
                <a:latin typeface="Aptos"/>
              </a:rPr>
              <a:t>Review result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60147-855E-5B12-A383-8C50687A011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FE9F7F0-31D6-7C66-3D1A-683A5583BB25}"/>
              </a:ext>
            </a:extLst>
          </p:cNvPr>
          <p:cNvSpPr txBox="1"/>
          <p:nvPr/>
        </p:nvSpPr>
        <p:spPr>
          <a:xfrm>
            <a:off x="3047238" y="3167390"/>
            <a:ext cx="6094476" cy="646331"/>
          </a:xfrm>
          <a:prstGeom prst="rect">
            <a:avLst/>
          </a:prstGeom>
          <a:noFill/>
        </p:spPr>
        <p:txBody>
          <a:bodyPr wrap="square">
            <a:spAutoFit/>
          </a:bodyPr>
          <a:lstStyle/>
          <a:p>
            <a:r>
              <a:rPr lang="en-US" sz="3600" b="1" dirty="0">
                <a:solidFill>
                  <a:srgbClr val="142742"/>
                </a:solidFill>
                <a:latin typeface="Aptos"/>
              </a:rPr>
              <a:t>Project Live Demonstration</a:t>
            </a:r>
            <a:endParaRPr lang="en-US" sz="3600" dirty="0"/>
          </a:p>
        </p:txBody>
      </p:sp>
    </p:spTree>
    <p:extLst>
      <p:ext uri="{BB962C8B-B14F-4D97-AF65-F5344CB8AC3E}">
        <p14:creationId xmlns:p14="http://schemas.microsoft.com/office/powerpoint/2010/main" val="15750553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04280-7BC1-DE1D-4628-53AAC1B276F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02C183E-B006-6180-2D91-1329E31C2E8E}"/>
              </a:ext>
            </a:extLst>
          </p:cNvPr>
          <p:cNvSpPr/>
          <p:nvPr/>
        </p:nvSpPr>
        <p:spPr>
          <a:xfrm>
            <a:off x="0" y="0"/>
            <a:ext cx="12191695" cy="128016"/>
          </a:xfrm>
          <a:prstGeom prst="rect">
            <a:avLst/>
          </a:prstGeom>
          <a:solidFill>
            <a:srgbClr val="22B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825D5D5D-BCC2-AA24-C078-29245E8CFBA3}"/>
              </a:ext>
            </a:extLst>
          </p:cNvPr>
          <p:cNvSpPr txBox="1"/>
          <p:nvPr/>
        </p:nvSpPr>
        <p:spPr>
          <a:xfrm>
            <a:off x="594360" y="713232"/>
            <a:ext cx="10789920" cy="898708"/>
          </a:xfrm>
          <a:prstGeom prst="rect">
            <a:avLst/>
          </a:prstGeom>
          <a:noFill/>
        </p:spPr>
        <p:txBody>
          <a:bodyPr wrap="square" lIns="18288" tIns="18288" rIns="18288" bIns="18288" anchor="t">
            <a:spAutoFit/>
          </a:bodyPr>
          <a:lstStyle/>
          <a:p>
            <a:r>
              <a:rPr lang="en-US" sz="2800" b="1" dirty="0">
                <a:solidFill>
                  <a:srgbClr val="142742"/>
                </a:solidFill>
                <a:latin typeface="Aptos"/>
              </a:rPr>
              <a:t>Individual contributions: Nabin Khadka</a:t>
            </a:r>
          </a:p>
          <a:p>
            <a:pPr algn="l"/>
            <a:endParaRPr sz="2800" b="1" dirty="0">
              <a:solidFill>
                <a:srgbClr val="142742"/>
              </a:solidFill>
              <a:latin typeface="Aptos"/>
            </a:endParaRPr>
          </a:p>
        </p:txBody>
      </p:sp>
      <p:sp>
        <p:nvSpPr>
          <p:cNvPr id="6" name="TextBox 5">
            <a:extLst>
              <a:ext uri="{FF2B5EF4-FFF2-40B4-BE49-F238E27FC236}">
                <a16:creationId xmlns:a16="http://schemas.microsoft.com/office/drawing/2014/main" id="{CF198D11-5AF4-1808-DBD6-6FD4E78A4F67}"/>
              </a:ext>
            </a:extLst>
          </p:cNvPr>
          <p:cNvSpPr txBox="1"/>
          <p:nvPr/>
        </p:nvSpPr>
        <p:spPr>
          <a:xfrm>
            <a:off x="594360" y="6510528"/>
            <a:ext cx="6400800" cy="182880"/>
          </a:xfrm>
          <a:prstGeom prst="rect">
            <a:avLst/>
          </a:prstGeom>
          <a:noFill/>
        </p:spPr>
        <p:txBody>
          <a:bodyPr wrap="square" lIns="18288" tIns="18288" rIns="18288" bIns="18288" anchor="t">
            <a:spAutoFit/>
          </a:bodyPr>
          <a:lstStyle/>
          <a:p>
            <a:pPr algn="l"/>
            <a:r>
              <a:rPr sz="900" b="1">
                <a:solidFill>
                  <a:srgbClr val="647382"/>
                </a:solidFill>
                <a:latin typeface="Aptos"/>
              </a:rPr>
              <a:t>TEAM 5  |  SMART STUDY COMPANION</a:t>
            </a:r>
          </a:p>
        </p:txBody>
      </p:sp>
      <p:sp>
        <p:nvSpPr>
          <p:cNvPr id="17" name="TextBox 16">
            <a:extLst>
              <a:ext uri="{FF2B5EF4-FFF2-40B4-BE49-F238E27FC236}">
                <a16:creationId xmlns:a16="http://schemas.microsoft.com/office/drawing/2014/main" id="{7B39E82E-7E37-E448-1B63-252A119FE674}"/>
              </a:ext>
            </a:extLst>
          </p:cNvPr>
          <p:cNvSpPr txBox="1"/>
          <p:nvPr/>
        </p:nvSpPr>
        <p:spPr>
          <a:xfrm>
            <a:off x="914400" y="3346703"/>
            <a:ext cx="438912" cy="228600"/>
          </a:xfrm>
          <a:prstGeom prst="rect">
            <a:avLst/>
          </a:prstGeom>
          <a:noFill/>
        </p:spPr>
        <p:txBody>
          <a:bodyPr wrap="square" lIns="18288" tIns="18288" rIns="18288" bIns="18288" anchor="t">
            <a:spAutoFit/>
          </a:bodyPr>
          <a:lstStyle/>
          <a:p>
            <a:pPr algn="ctr"/>
            <a:r>
              <a:rPr sz="1200" b="1">
                <a:solidFill>
                  <a:srgbClr val="FFFFFF"/>
                </a:solidFill>
                <a:latin typeface="Aptos"/>
              </a:rPr>
              <a:t>3</a:t>
            </a:r>
          </a:p>
        </p:txBody>
      </p:sp>
      <p:sp>
        <p:nvSpPr>
          <p:cNvPr id="21" name="TextBox 20">
            <a:extLst>
              <a:ext uri="{FF2B5EF4-FFF2-40B4-BE49-F238E27FC236}">
                <a16:creationId xmlns:a16="http://schemas.microsoft.com/office/drawing/2014/main" id="{72D406AB-F698-2672-29D2-0D8E54D567F1}"/>
              </a:ext>
            </a:extLst>
          </p:cNvPr>
          <p:cNvSpPr txBox="1"/>
          <p:nvPr/>
        </p:nvSpPr>
        <p:spPr>
          <a:xfrm>
            <a:off x="914400" y="4187952"/>
            <a:ext cx="438912" cy="228600"/>
          </a:xfrm>
          <a:prstGeom prst="rect">
            <a:avLst/>
          </a:prstGeom>
          <a:noFill/>
        </p:spPr>
        <p:txBody>
          <a:bodyPr wrap="square" lIns="18288" tIns="18288" rIns="18288" bIns="18288" anchor="t">
            <a:spAutoFit/>
          </a:bodyPr>
          <a:lstStyle/>
          <a:p>
            <a:pPr algn="ctr"/>
            <a:r>
              <a:rPr sz="1200" b="1">
                <a:solidFill>
                  <a:srgbClr val="FFFFFF"/>
                </a:solidFill>
                <a:latin typeface="Aptos"/>
              </a:rPr>
              <a:t>4</a:t>
            </a:r>
          </a:p>
        </p:txBody>
      </p:sp>
      <p:sp>
        <p:nvSpPr>
          <p:cNvPr id="26" name="TextBox 25">
            <a:extLst>
              <a:ext uri="{FF2B5EF4-FFF2-40B4-BE49-F238E27FC236}">
                <a16:creationId xmlns:a16="http://schemas.microsoft.com/office/drawing/2014/main" id="{F10AB1E2-5411-975E-6C36-3B0A08E92CAD}"/>
              </a:ext>
            </a:extLst>
          </p:cNvPr>
          <p:cNvSpPr txBox="1"/>
          <p:nvPr/>
        </p:nvSpPr>
        <p:spPr>
          <a:xfrm>
            <a:off x="652271" y="1505313"/>
            <a:ext cx="10625329" cy="4401205"/>
          </a:xfrm>
          <a:prstGeom prst="rect">
            <a:avLst/>
          </a:prstGeom>
          <a:noFill/>
        </p:spPr>
        <p:txBody>
          <a:bodyPr wrap="square" rtlCol="0">
            <a:spAutoFit/>
          </a:bodyPr>
          <a:lstStyle/>
          <a:p>
            <a:pPr marL="342900" lvl="0" indent="-342900">
              <a:buFont typeface="Wingdings" panose="05000000000000000000" pitchFamily="2" charset="2"/>
              <a:buChar char="Ø"/>
            </a:pPr>
            <a:r>
              <a:rPr lang="en-US" sz="2000" b="1" dirty="0"/>
              <a:t>Area of Contribution</a:t>
            </a:r>
            <a:r>
              <a:rPr lang="en-US" sz="2000" dirty="0"/>
              <a:t>: Project overview, workflow explanation, and coordination of 											supporting evidence.</a:t>
            </a:r>
          </a:p>
          <a:p>
            <a:pPr marL="342900" lvl="0" indent="-342900">
              <a:buFont typeface="Wingdings" panose="05000000000000000000" pitchFamily="2" charset="2"/>
              <a:buChar char="Ø"/>
            </a:pPr>
            <a:r>
              <a:rPr lang="en-US" sz="2000" b="1" dirty="0"/>
              <a:t>Main Responsibilities</a:t>
            </a:r>
            <a:r>
              <a:rPr lang="en-US" sz="2000" dirty="0"/>
              <a:t>:</a:t>
            </a:r>
          </a:p>
          <a:p>
            <a:pPr marL="1200150" lvl="2" indent="-285750">
              <a:buFont typeface="Arial" panose="020B0604020202020204" pitchFamily="34" charset="0"/>
              <a:buChar char="•"/>
            </a:pPr>
            <a:r>
              <a:rPr lang="en-US" sz="2000" dirty="0"/>
              <a:t>Explain the overall purpose and objectives of Smart Study Companion.</a:t>
            </a:r>
          </a:p>
          <a:p>
            <a:pPr marL="1200150" lvl="2" indent="-285750">
              <a:buFont typeface="Arial" panose="020B0604020202020204" pitchFamily="34" charset="0"/>
              <a:buChar char="•"/>
            </a:pPr>
            <a:r>
              <a:rPr lang="en-US" sz="2000" dirty="0"/>
              <a:t>Describe the main student workflow, from subject selection and task creation to quiz results.</a:t>
            </a:r>
          </a:p>
          <a:p>
            <a:pPr marL="1200150" lvl="2" indent="-285750">
              <a:buFont typeface="Arial" panose="020B0604020202020204" pitchFamily="34" charset="0"/>
              <a:buChar char="•"/>
            </a:pPr>
            <a:r>
              <a:rPr lang="en-US" sz="2000" dirty="0"/>
              <a:t>Coordinate supporting evidence that demonstrates the application's features and progress.</a:t>
            </a:r>
          </a:p>
          <a:p>
            <a:pPr marL="1200150" lvl="2" indent="-285750">
              <a:buFont typeface="Arial" panose="020B0604020202020204" pitchFamily="34" charset="0"/>
              <a:buChar char="•"/>
            </a:pPr>
            <a:r>
              <a:rPr lang="en-US" sz="2000" dirty="0"/>
              <a:t>Help organize project reports and related documentation.</a:t>
            </a:r>
          </a:p>
          <a:p>
            <a:pPr marL="1200150" lvl="2" indent="-285750">
              <a:buFont typeface="Arial" panose="020B0604020202020204" pitchFamily="34" charset="0"/>
              <a:buChar char="•"/>
            </a:pPr>
            <a:r>
              <a:rPr lang="en-US" sz="2000" dirty="0"/>
              <a:t>Support clear communication of the project's current functionality and development progress.</a:t>
            </a:r>
          </a:p>
          <a:p>
            <a:pPr marL="342900" lvl="0" indent="-342900">
              <a:buFont typeface="Wingdings" panose="05000000000000000000" pitchFamily="2" charset="2"/>
              <a:buChar char="Ø"/>
            </a:pPr>
            <a:r>
              <a:rPr lang="en-US" sz="2000" b="1" dirty="0"/>
              <a:t>Importance to the Project</a:t>
            </a:r>
            <a:r>
              <a:rPr lang="en-US" sz="2000" dirty="0"/>
              <a:t>: Project overview and workflow coordination help the team communicate the project's purpose, explain how the application works, and present organized evidence of development progress.</a:t>
            </a:r>
          </a:p>
        </p:txBody>
      </p:sp>
    </p:spTree>
    <p:extLst>
      <p:ext uri="{BB962C8B-B14F-4D97-AF65-F5344CB8AC3E}">
        <p14:creationId xmlns:p14="http://schemas.microsoft.com/office/powerpoint/2010/main" val="13203485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27ADD-79ED-F859-178F-FABF911ABD3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EC083DD-93CA-E61C-6AD6-B5E99BF60706}"/>
              </a:ext>
            </a:extLst>
          </p:cNvPr>
          <p:cNvSpPr/>
          <p:nvPr/>
        </p:nvSpPr>
        <p:spPr>
          <a:xfrm>
            <a:off x="0" y="0"/>
            <a:ext cx="12191695" cy="128016"/>
          </a:xfrm>
          <a:prstGeom prst="rect">
            <a:avLst/>
          </a:prstGeom>
          <a:solidFill>
            <a:srgbClr val="22B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8AF694DD-3D5B-58BE-CB8B-884E742494E9}"/>
              </a:ext>
            </a:extLst>
          </p:cNvPr>
          <p:cNvSpPr txBox="1"/>
          <p:nvPr/>
        </p:nvSpPr>
        <p:spPr>
          <a:xfrm>
            <a:off x="594360" y="713232"/>
            <a:ext cx="10789920" cy="898708"/>
          </a:xfrm>
          <a:prstGeom prst="rect">
            <a:avLst/>
          </a:prstGeom>
          <a:noFill/>
        </p:spPr>
        <p:txBody>
          <a:bodyPr wrap="square" lIns="18288" tIns="18288" rIns="18288" bIns="18288" anchor="t">
            <a:spAutoFit/>
          </a:bodyPr>
          <a:lstStyle/>
          <a:p>
            <a:r>
              <a:rPr lang="en-US" sz="2800" b="1" dirty="0">
                <a:solidFill>
                  <a:srgbClr val="142742"/>
                </a:solidFill>
                <a:latin typeface="Aptos"/>
              </a:rPr>
              <a:t>Individual contributions: Sumit Adhikari</a:t>
            </a:r>
          </a:p>
          <a:p>
            <a:pPr algn="l"/>
            <a:endParaRPr sz="2800" b="1" dirty="0">
              <a:solidFill>
                <a:srgbClr val="142742"/>
              </a:solidFill>
              <a:latin typeface="Aptos"/>
            </a:endParaRPr>
          </a:p>
        </p:txBody>
      </p:sp>
      <p:sp>
        <p:nvSpPr>
          <p:cNvPr id="6" name="TextBox 5">
            <a:extLst>
              <a:ext uri="{FF2B5EF4-FFF2-40B4-BE49-F238E27FC236}">
                <a16:creationId xmlns:a16="http://schemas.microsoft.com/office/drawing/2014/main" id="{700EC052-97DF-4628-6A8F-9F9EC6E65D87}"/>
              </a:ext>
            </a:extLst>
          </p:cNvPr>
          <p:cNvSpPr txBox="1"/>
          <p:nvPr/>
        </p:nvSpPr>
        <p:spPr>
          <a:xfrm>
            <a:off x="594360" y="6510528"/>
            <a:ext cx="6400800" cy="182880"/>
          </a:xfrm>
          <a:prstGeom prst="rect">
            <a:avLst/>
          </a:prstGeom>
          <a:noFill/>
        </p:spPr>
        <p:txBody>
          <a:bodyPr wrap="square" lIns="18288" tIns="18288" rIns="18288" bIns="18288" anchor="t">
            <a:spAutoFit/>
          </a:bodyPr>
          <a:lstStyle/>
          <a:p>
            <a:pPr algn="l"/>
            <a:r>
              <a:rPr sz="900" b="1">
                <a:solidFill>
                  <a:srgbClr val="647382"/>
                </a:solidFill>
                <a:latin typeface="Aptos"/>
              </a:rPr>
              <a:t>TEAM 5  |  SMART STUDY COMPANION</a:t>
            </a:r>
          </a:p>
        </p:txBody>
      </p:sp>
      <p:sp>
        <p:nvSpPr>
          <p:cNvPr id="17" name="TextBox 16">
            <a:extLst>
              <a:ext uri="{FF2B5EF4-FFF2-40B4-BE49-F238E27FC236}">
                <a16:creationId xmlns:a16="http://schemas.microsoft.com/office/drawing/2014/main" id="{9F8DAAA3-01E8-A262-7964-F36C83C87E90}"/>
              </a:ext>
            </a:extLst>
          </p:cNvPr>
          <p:cNvSpPr txBox="1"/>
          <p:nvPr/>
        </p:nvSpPr>
        <p:spPr>
          <a:xfrm>
            <a:off x="914400" y="3346703"/>
            <a:ext cx="438912" cy="228600"/>
          </a:xfrm>
          <a:prstGeom prst="rect">
            <a:avLst/>
          </a:prstGeom>
          <a:noFill/>
        </p:spPr>
        <p:txBody>
          <a:bodyPr wrap="square" lIns="18288" tIns="18288" rIns="18288" bIns="18288" anchor="t">
            <a:spAutoFit/>
          </a:bodyPr>
          <a:lstStyle/>
          <a:p>
            <a:pPr algn="ctr"/>
            <a:r>
              <a:rPr sz="1200" b="1">
                <a:solidFill>
                  <a:srgbClr val="FFFFFF"/>
                </a:solidFill>
                <a:latin typeface="Aptos"/>
              </a:rPr>
              <a:t>3</a:t>
            </a:r>
          </a:p>
        </p:txBody>
      </p:sp>
      <p:sp>
        <p:nvSpPr>
          <p:cNvPr id="21" name="TextBox 20">
            <a:extLst>
              <a:ext uri="{FF2B5EF4-FFF2-40B4-BE49-F238E27FC236}">
                <a16:creationId xmlns:a16="http://schemas.microsoft.com/office/drawing/2014/main" id="{3BBF7B4F-B801-96AA-2A32-A1C8E777E639}"/>
              </a:ext>
            </a:extLst>
          </p:cNvPr>
          <p:cNvSpPr txBox="1"/>
          <p:nvPr/>
        </p:nvSpPr>
        <p:spPr>
          <a:xfrm>
            <a:off x="914400" y="4187952"/>
            <a:ext cx="438912" cy="228600"/>
          </a:xfrm>
          <a:prstGeom prst="rect">
            <a:avLst/>
          </a:prstGeom>
          <a:noFill/>
        </p:spPr>
        <p:txBody>
          <a:bodyPr wrap="square" lIns="18288" tIns="18288" rIns="18288" bIns="18288" anchor="t">
            <a:spAutoFit/>
          </a:bodyPr>
          <a:lstStyle/>
          <a:p>
            <a:pPr algn="ctr"/>
            <a:r>
              <a:rPr sz="1200" b="1">
                <a:solidFill>
                  <a:srgbClr val="FFFFFF"/>
                </a:solidFill>
                <a:latin typeface="Aptos"/>
              </a:rPr>
              <a:t>4</a:t>
            </a:r>
          </a:p>
        </p:txBody>
      </p:sp>
      <p:sp>
        <p:nvSpPr>
          <p:cNvPr id="26" name="TextBox 25">
            <a:extLst>
              <a:ext uri="{FF2B5EF4-FFF2-40B4-BE49-F238E27FC236}">
                <a16:creationId xmlns:a16="http://schemas.microsoft.com/office/drawing/2014/main" id="{5057FED9-F2D4-864E-72E0-A127F612E40C}"/>
              </a:ext>
            </a:extLst>
          </p:cNvPr>
          <p:cNvSpPr txBox="1"/>
          <p:nvPr/>
        </p:nvSpPr>
        <p:spPr>
          <a:xfrm>
            <a:off x="758951" y="1929384"/>
            <a:ext cx="10040113" cy="3170099"/>
          </a:xfrm>
          <a:prstGeom prst="rect">
            <a:avLst/>
          </a:prstGeom>
          <a:noFill/>
        </p:spPr>
        <p:txBody>
          <a:bodyPr wrap="square" rtlCol="0">
            <a:spAutoFit/>
          </a:bodyPr>
          <a:lstStyle/>
          <a:p>
            <a:pPr marL="342900" lvl="0" indent="-342900">
              <a:buFont typeface="Wingdings" panose="05000000000000000000" pitchFamily="2" charset="2"/>
              <a:buChar char="Ø"/>
            </a:pPr>
            <a:r>
              <a:rPr lang="en-US" sz="2000" b="1" dirty="0"/>
              <a:t>Area of Contribution</a:t>
            </a:r>
            <a:r>
              <a:rPr lang="en-US" sz="2000" dirty="0"/>
              <a:t>: Front-end/UI follow-up and theme consistency.</a:t>
            </a:r>
          </a:p>
          <a:p>
            <a:pPr marL="342900" lvl="0" indent="-342900">
              <a:buFont typeface="Wingdings" panose="05000000000000000000" pitchFamily="2" charset="2"/>
              <a:buChar char="Ø"/>
            </a:pPr>
            <a:r>
              <a:rPr lang="en-US" sz="2000" b="1" dirty="0"/>
              <a:t>Main Responsibilities</a:t>
            </a:r>
            <a:r>
              <a:rPr lang="en-US" sz="2000" dirty="0"/>
              <a:t>:</a:t>
            </a:r>
          </a:p>
          <a:p>
            <a:pPr marL="1657350" lvl="3" indent="-285750">
              <a:buFont typeface="Arial" panose="020B0604020202020204" pitchFamily="34" charset="0"/>
              <a:buChar char="•"/>
            </a:pPr>
            <a:r>
              <a:rPr lang="en-US" sz="2000" dirty="0"/>
              <a:t>Follow up on front-end and user interface improvements.</a:t>
            </a:r>
          </a:p>
          <a:p>
            <a:pPr marL="1657350" lvl="3" indent="-285750">
              <a:buFont typeface="Arial" panose="020B0604020202020204" pitchFamily="34" charset="0"/>
              <a:buChar char="•"/>
            </a:pPr>
            <a:r>
              <a:rPr lang="en-US" sz="2000" dirty="0"/>
              <a:t>Review visual consistency across the application's screens.</a:t>
            </a:r>
          </a:p>
          <a:p>
            <a:pPr marL="1657350" lvl="3" indent="-285750">
              <a:buFont typeface="Arial" panose="020B0604020202020204" pitchFamily="34" charset="0"/>
              <a:buChar char="•"/>
            </a:pPr>
            <a:r>
              <a:rPr lang="en-US" sz="2000" dirty="0"/>
              <a:t>Help identify and address inconsistencies in the application's visual theme.</a:t>
            </a:r>
          </a:p>
          <a:p>
            <a:pPr marL="1657350" lvl="3" indent="-285750">
              <a:buFont typeface="Arial" panose="020B0604020202020204" pitchFamily="34" charset="0"/>
              <a:buChar char="•"/>
            </a:pPr>
            <a:r>
              <a:rPr lang="en-US" sz="2000" dirty="0"/>
              <a:t>Support UI-related changes and follow-up actions.</a:t>
            </a:r>
          </a:p>
          <a:p>
            <a:pPr marL="1657350" lvl="3" indent="-285750">
              <a:buFont typeface="Arial" panose="020B0604020202020204" pitchFamily="34" charset="0"/>
              <a:buChar char="•"/>
            </a:pPr>
            <a:r>
              <a:rPr lang="en-US" sz="2000" dirty="0"/>
              <a:t>Help ensure that the interface provides a consistent and understandable user experience.</a:t>
            </a:r>
          </a:p>
          <a:p>
            <a:pPr marL="342900" lvl="0" indent="-342900">
              <a:buFont typeface="Wingdings" panose="05000000000000000000" pitchFamily="2" charset="2"/>
              <a:buChar char="Ø"/>
            </a:pPr>
            <a:r>
              <a:rPr lang="en-US" sz="2000" b="1" dirty="0"/>
              <a:t>Importance to the Project</a:t>
            </a:r>
            <a:r>
              <a:rPr lang="en-US" sz="2000" dirty="0"/>
              <a:t>: Front-end follow-up and theme consistency help improve the application's appearance, usability, and overall presentation quality.</a:t>
            </a:r>
          </a:p>
        </p:txBody>
      </p:sp>
    </p:spTree>
    <p:extLst>
      <p:ext uri="{BB962C8B-B14F-4D97-AF65-F5344CB8AC3E}">
        <p14:creationId xmlns:p14="http://schemas.microsoft.com/office/powerpoint/2010/main" val="41245077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DC07A-4604-95FF-7C9A-DC7FBA6E605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22C0694-AAE6-95A5-B972-1BBEA5311FBD}"/>
              </a:ext>
            </a:extLst>
          </p:cNvPr>
          <p:cNvSpPr/>
          <p:nvPr/>
        </p:nvSpPr>
        <p:spPr>
          <a:xfrm>
            <a:off x="0" y="0"/>
            <a:ext cx="12191695" cy="128016"/>
          </a:xfrm>
          <a:prstGeom prst="rect">
            <a:avLst/>
          </a:prstGeom>
          <a:solidFill>
            <a:srgbClr val="22B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56F45AF2-CD5D-EF00-5C6D-DA0596E75DEC}"/>
              </a:ext>
            </a:extLst>
          </p:cNvPr>
          <p:cNvSpPr txBox="1"/>
          <p:nvPr/>
        </p:nvSpPr>
        <p:spPr>
          <a:xfrm>
            <a:off x="594360" y="713232"/>
            <a:ext cx="10789920" cy="898708"/>
          </a:xfrm>
          <a:prstGeom prst="rect">
            <a:avLst/>
          </a:prstGeom>
          <a:noFill/>
        </p:spPr>
        <p:txBody>
          <a:bodyPr wrap="square" lIns="18288" tIns="18288" rIns="18288" bIns="18288" anchor="t">
            <a:spAutoFit/>
          </a:bodyPr>
          <a:lstStyle/>
          <a:p>
            <a:r>
              <a:rPr lang="en-US" sz="2800" b="1" dirty="0">
                <a:solidFill>
                  <a:srgbClr val="142742"/>
                </a:solidFill>
                <a:latin typeface="Aptos"/>
              </a:rPr>
              <a:t>Individual contributions: Prabin Rai</a:t>
            </a:r>
          </a:p>
          <a:p>
            <a:pPr algn="l"/>
            <a:endParaRPr sz="2800" b="1" dirty="0">
              <a:solidFill>
                <a:srgbClr val="142742"/>
              </a:solidFill>
              <a:latin typeface="Aptos"/>
            </a:endParaRPr>
          </a:p>
        </p:txBody>
      </p:sp>
      <p:sp>
        <p:nvSpPr>
          <p:cNvPr id="6" name="TextBox 5">
            <a:extLst>
              <a:ext uri="{FF2B5EF4-FFF2-40B4-BE49-F238E27FC236}">
                <a16:creationId xmlns:a16="http://schemas.microsoft.com/office/drawing/2014/main" id="{101A3553-378C-0B84-097D-D63AFEC2DC9C}"/>
              </a:ext>
            </a:extLst>
          </p:cNvPr>
          <p:cNvSpPr txBox="1"/>
          <p:nvPr/>
        </p:nvSpPr>
        <p:spPr>
          <a:xfrm>
            <a:off x="594360" y="6510528"/>
            <a:ext cx="6400800" cy="182880"/>
          </a:xfrm>
          <a:prstGeom prst="rect">
            <a:avLst/>
          </a:prstGeom>
          <a:noFill/>
        </p:spPr>
        <p:txBody>
          <a:bodyPr wrap="square" lIns="18288" tIns="18288" rIns="18288" bIns="18288" anchor="t">
            <a:spAutoFit/>
          </a:bodyPr>
          <a:lstStyle/>
          <a:p>
            <a:pPr algn="l"/>
            <a:r>
              <a:rPr sz="900" b="1">
                <a:solidFill>
                  <a:srgbClr val="647382"/>
                </a:solidFill>
                <a:latin typeface="Aptos"/>
              </a:rPr>
              <a:t>TEAM 5  |  SMART STUDY COMPANION</a:t>
            </a:r>
          </a:p>
        </p:txBody>
      </p:sp>
      <p:sp>
        <p:nvSpPr>
          <p:cNvPr id="17" name="TextBox 16">
            <a:extLst>
              <a:ext uri="{FF2B5EF4-FFF2-40B4-BE49-F238E27FC236}">
                <a16:creationId xmlns:a16="http://schemas.microsoft.com/office/drawing/2014/main" id="{B428A89C-A7D0-3B5D-AC30-022A5160B483}"/>
              </a:ext>
            </a:extLst>
          </p:cNvPr>
          <p:cNvSpPr txBox="1"/>
          <p:nvPr/>
        </p:nvSpPr>
        <p:spPr>
          <a:xfrm>
            <a:off x="914400" y="3346703"/>
            <a:ext cx="438912" cy="228600"/>
          </a:xfrm>
          <a:prstGeom prst="rect">
            <a:avLst/>
          </a:prstGeom>
          <a:noFill/>
        </p:spPr>
        <p:txBody>
          <a:bodyPr wrap="square" lIns="18288" tIns="18288" rIns="18288" bIns="18288" anchor="t">
            <a:spAutoFit/>
          </a:bodyPr>
          <a:lstStyle/>
          <a:p>
            <a:pPr algn="ctr"/>
            <a:r>
              <a:rPr sz="1200" b="1">
                <a:solidFill>
                  <a:srgbClr val="FFFFFF"/>
                </a:solidFill>
                <a:latin typeface="Aptos"/>
              </a:rPr>
              <a:t>3</a:t>
            </a:r>
          </a:p>
        </p:txBody>
      </p:sp>
      <p:sp>
        <p:nvSpPr>
          <p:cNvPr id="21" name="TextBox 20">
            <a:extLst>
              <a:ext uri="{FF2B5EF4-FFF2-40B4-BE49-F238E27FC236}">
                <a16:creationId xmlns:a16="http://schemas.microsoft.com/office/drawing/2014/main" id="{F8E05C5A-9B56-D35A-E5E1-52CC6DCC0CA6}"/>
              </a:ext>
            </a:extLst>
          </p:cNvPr>
          <p:cNvSpPr txBox="1"/>
          <p:nvPr/>
        </p:nvSpPr>
        <p:spPr>
          <a:xfrm>
            <a:off x="914400" y="4187952"/>
            <a:ext cx="438912" cy="228600"/>
          </a:xfrm>
          <a:prstGeom prst="rect">
            <a:avLst/>
          </a:prstGeom>
          <a:noFill/>
        </p:spPr>
        <p:txBody>
          <a:bodyPr wrap="square" lIns="18288" tIns="18288" rIns="18288" bIns="18288" anchor="t">
            <a:spAutoFit/>
          </a:bodyPr>
          <a:lstStyle/>
          <a:p>
            <a:pPr algn="ctr"/>
            <a:r>
              <a:rPr sz="1200" b="1">
                <a:solidFill>
                  <a:srgbClr val="FFFFFF"/>
                </a:solidFill>
                <a:latin typeface="Aptos"/>
              </a:rPr>
              <a:t>4</a:t>
            </a:r>
          </a:p>
        </p:txBody>
      </p:sp>
      <p:sp>
        <p:nvSpPr>
          <p:cNvPr id="26" name="TextBox 25">
            <a:extLst>
              <a:ext uri="{FF2B5EF4-FFF2-40B4-BE49-F238E27FC236}">
                <a16:creationId xmlns:a16="http://schemas.microsoft.com/office/drawing/2014/main" id="{DCD0409D-3E4D-8648-9468-EBED7FC4C2B2}"/>
              </a:ext>
            </a:extLst>
          </p:cNvPr>
          <p:cNvSpPr txBox="1"/>
          <p:nvPr/>
        </p:nvSpPr>
        <p:spPr>
          <a:xfrm>
            <a:off x="758951" y="1929384"/>
            <a:ext cx="10140697" cy="3539430"/>
          </a:xfrm>
          <a:prstGeom prst="rect">
            <a:avLst/>
          </a:prstGeom>
          <a:noFill/>
        </p:spPr>
        <p:txBody>
          <a:bodyPr wrap="square" rtlCol="0">
            <a:spAutoFit/>
          </a:bodyPr>
          <a:lstStyle/>
          <a:p>
            <a:pPr marL="342900" lvl="0" indent="-342900">
              <a:buFont typeface="Wingdings" panose="05000000000000000000" pitchFamily="2" charset="2"/>
              <a:buChar char="Ø"/>
            </a:pPr>
            <a:r>
              <a:rPr lang="en-US" sz="2000" b="1" dirty="0"/>
              <a:t>Area of Contribution</a:t>
            </a:r>
            <a:r>
              <a:rPr lang="en-US" sz="2000" dirty="0"/>
              <a:t>: Application testing and test-result documentation.</a:t>
            </a:r>
          </a:p>
          <a:p>
            <a:pPr marL="342900" lvl="0" indent="-342900">
              <a:buFont typeface="Wingdings" panose="05000000000000000000" pitchFamily="2" charset="2"/>
              <a:buChar char="Ø"/>
            </a:pPr>
            <a:r>
              <a:rPr lang="en-US" sz="2000" b="1" dirty="0"/>
              <a:t>Main Responsibilities</a:t>
            </a:r>
            <a:r>
              <a:rPr lang="en-US" sz="2000" dirty="0"/>
              <a:t>:</a:t>
            </a:r>
          </a:p>
          <a:p>
            <a:pPr marL="1657350" lvl="3" indent="-285750">
              <a:buFont typeface="Arial" panose="020B0604020202020204" pitchFamily="34" charset="0"/>
              <a:buChar char="•"/>
            </a:pPr>
            <a:r>
              <a:rPr lang="en-US" sz="2000" dirty="0"/>
              <a:t>Test the application's main student workflow.</a:t>
            </a:r>
          </a:p>
          <a:p>
            <a:pPr marL="1657350" lvl="3" indent="-285750">
              <a:buFont typeface="Arial" panose="020B0604020202020204" pitchFamily="34" charset="0"/>
              <a:buChar char="•"/>
            </a:pPr>
            <a:r>
              <a:rPr lang="en-US" sz="2000" dirty="0"/>
              <a:t>Check subject selection, task creation, and Study Plan functionality.</a:t>
            </a:r>
          </a:p>
          <a:p>
            <a:pPr marL="1657350" lvl="3" indent="-285750">
              <a:buFont typeface="Arial" panose="020B0604020202020204" pitchFamily="34" charset="0"/>
              <a:buChar char="•"/>
            </a:pPr>
            <a:r>
              <a:rPr lang="en-US" sz="2000" dirty="0"/>
              <a:t>Verify task completion and subject-based quiz functionality.</a:t>
            </a:r>
          </a:p>
          <a:p>
            <a:pPr marL="1657350" lvl="3" indent="-285750">
              <a:buFont typeface="Arial" panose="020B0604020202020204" pitchFamily="34" charset="0"/>
              <a:buChar char="•"/>
            </a:pPr>
            <a:r>
              <a:rPr lang="en-US" sz="2000" dirty="0"/>
              <a:t>Document actual testing procedures and results.</a:t>
            </a:r>
          </a:p>
          <a:p>
            <a:pPr marL="1657350" lvl="3" indent="-285750">
              <a:buFont typeface="Arial" panose="020B0604020202020204" pitchFamily="34" charset="0"/>
              <a:buChar char="•"/>
            </a:pPr>
            <a:r>
              <a:rPr lang="en-US" sz="2000" dirty="0"/>
              <a:t>Record identified problems and any required follow-up actions.</a:t>
            </a:r>
          </a:p>
          <a:p>
            <a:pPr marL="342900" lvl="0" indent="-342900">
              <a:buFont typeface="Wingdings" panose="05000000000000000000" pitchFamily="2" charset="2"/>
              <a:buChar char="Ø"/>
            </a:pPr>
            <a:r>
              <a:rPr lang="en-US" sz="2000" b="1" dirty="0"/>
              <a:t>Importance to the Project</a:t>
            </a:r>
            <a:r>
              <a:rPr lang="en-US" sz="2000" dirty="0"/>
              <a:t>: Application testing and test-result documentation help the team verify whether the main features work correctly, identify problems, and provide evidence of the application's functionality.</a:t>
            </a:r>
          </a:p>
          <a:p>
            <a:pPr marL="342900" indent="-342900">
              <a:buFont typeface="Wingdings" panose="05000000000000000000" pitchFamily="2" charset="2"/>
              <a:buChar char="Ø"/>
            </a:pPr>
            <a:endParaRPr lang="en-US" sz="2400" dirty="0"/>
          </a:p>
        </p:txBody>
      </p:sp>
    </p:spTree>
    <p:extLst>
      <p:ext uri="{BB962C8B-B14F-4D97-AF65-F5344CB8AC3E}">
        <p14:creationId xmlns:p14="http://schemas.microsoft.com/office/powerpoint/2010/main" val="37055682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2CE12-F339-D21D-BDEA-AE3EE1C1376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EB80E03-46FB-B505-2074-CAFD5FD1AE17}"/>
              </a:ext>
            </a:extLst>
          </p:cNvPr>
          <p:cNvSpPr/>
          <p:nvPr/>
        </p:nvSpPr>
        <p:spPr>
          <a:xfrm>
            <a:off x="0" y="0"/>
            <a:ext cx="12191695" cy="128016"/>
          </a:xfrm>
          <a:prstGeom prst="rect">
            <a:avLst/>
          </a:prstGeom>
          <a:solidFill>
            <a:srgbClr val="22B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1F4CD128-83E8-B2DC-AF04-0AD5580B1CC0}"/>
              </a:ext>
            </a:extLst>
          </p:cNvPr>
          <p:cNvSpPr txBox="1"/>
          <p:nvPr/>
        </p:nvSpPr>
        <p:spPr>
          <a:xfrm>
            <a:off x="594360" y="713232"/>
            <a:ext cx="10789920" cy="898708"/>
          </a:xfrm>
          <a:prstGeom prst="rect">
            <a:avLst/>
          </a:prstGeom>
          <a:noFill/>
        </p:spPr>
        <p:txBody>
          <a:bodyPr wrap="square" lIns="18288" tIns="18288" rIns="18288" bIns="18288" anchor="t">
            <a:spAutoFit/>
          </a:bodyPr>
          <a:lstStyle/>
          <a:p>
            <a:r>
              <a:rPr lang="en-US" sz="2800" b="1" dirty="0">
                <a:solidFill>
                  <a:srgbClr val="142742"/>
                </a:solidFill>
                <a:latin typeface="Aptos"/>
              </a:rPr>
              <a:t>Individual contributions: Prince Karki</a:t>
            </a:r>
          </a:p>
          <a:p>
            <a:pPr algn="l"/>
            <a:endParaRPr sz="2800" b="1" dirty="0">
              <a:solidFill>
                <a:srgbClr val="142742"/>
              </a:solidFill>
              <a:latin typeface="Aptos"/>
            </a:endParaRPr>
          </a:p>
        </p:txBody>
      </p:sp>
      <p:sp>
        <p:nvSpPr>
          <p:cNvPr id="6" name="TextBox 5">
            <a:extLst>
              <a:ext uri="{FF2B5EF4-FFF2-40B4-BE49-F238E27FC236}">
                <a16:creationId xmlns:a16="http://schemas.microsoft.com/office/drawing/2014/main" id="{2CAE2C10-6B99-E6D7-8754-BC8D50FC1070}"/>
              </a:ext>
            </a:extLst>
          </p:cNvPr>
          <p:cNvSpPr txBox="1"/>
          <p:nvPr/>
        </p:nvSpPr>
        <p:spPr>
          <a:xfrm>
            <a:off x="594360" y="6510528"/>
            <a:ext cx="6400800" cy="182880"/>
          </a:xfrm>
          <a:prstGeom prst="rect">
            <a:avLst/>
          </a:prstGeom>
          <a:noFill/>
        </p:spPr>
        <p:txBody>
          <a:bodyPr wrap="square" lIns="18288" tIns="18288" rIns="18288" bIns="18288" anchor="t">
            <a:spAutoFit/>
          </a:bodyPr>
          <a:lstStyle/>
          <a:p>
            <a:pPr algn="l"/>
            <a:r>
              <a:rPr sz="900" b="1">
                <a:solidFill>
                  <a:srgbClr val="647382"/>
                </a:solidFill>
                <a:latin typeface="Aptos"/>
              </a:rPr>
              <a:t>TEAM 5  |  SMART STUDY COMPANION</a:t>
            </a:r>
          </a:p>
        </p:txBody>
      </p:sp>
      <p:sp>
        <p:nvSpPr>
          <p:cNvPr id="17" name="TextBox 16">
            <a:extLst>
              <a:ext uri="{FF2B5EF4-FFF2-40B4-BE49-F238E27FC236}">
                <a16:creationId xmlns:a16="http://schemas.microsoft.com/office/drawing/2014/main" id="{CDA50B48-DE7F-3A23-9455-CFD8DC9EF033}"/>
              </a:ext>
            </a:extLst>
          </p:cNvPr>
          <p:cNvSpPr txBox="1"/>
          <p:nvPr/>
        </p:nvSpPr>
        <p:spPr>
          <a:xfrm>
            <a:off x="914400" y="3346703"/>
            <a:ext cx="438912" cy="228600"/>
          </a:xfrm>
          <a:prstGeom prst="rect">
            <a:avLst/>
          </a:prstGeom>
          <a:noFill/>
        </p:spPr>
        <p:txBody>
          <a:bodyPr wrap="square" lIns="18288" tIns="18288" rIns="18288" bIns="18288" anchor="t">
            <a:spAutoFit/>
          </a:bodyPr>
          <a:lstStyle/>
          <a:p>
            <a:pPr algn="ctr"/>
            <a:r>
              <a:rPr sz="1200" b="1">
                <a:solidFill>
                  <a:srgbClr val="FFFFFF"/>
                </a:solidFill>
                <a:latin typeface="Aptos"/>
              </a:rPr>
              <a:t>3</a:t>
            </a:r>
          </a:p>
        </p:txBody>
      </p:sp>
      <p:sp>
        <p:nvSpPr>
          <p:cNvPr id="21" name="TextBox 20">
            <a:extLst>
              <a:ext uri="{FF2B5EF4-FFF2-40B4-BE49-F238E27FC236}">
                <a16:creationId xmlns:a16="http://schemas.microsoft.com/office/drawing/2014/main" id="{14494AFE-22FB-E818-E922-D5FB1C364C9E}"/>
              </a:ext>
            </a:extLst>
          </p:cNvPr>
          <p:cNvSpPr txBox="1"/>
          <p:nvPr/>
        </p:nvSpPr>
        <p:spPr>
          <a:xfrm>
            <a:off x="914400" y="4187952"/>
            <a:ext cx="438912" cy="228600"/>
          </a:xfrm>
          <a:prstGeom prst="rect">
            <a:avLst/>
          </a:prstGeom>
          <a:noFill/>
        </p:spPr>
        <p:txBody>
          <a:bodyPr wrap="square" lIns="18288" tIns="18288" rIns="18288" bIns="18288" anchor="t">
            <a:spAutoFit/>
          </a:bodyPr>
          <a:lstStyle/>
          <a:p>
            <a:pPr algn="ctr"/>
            <a:r>
              <a:rPr sz="1200" b="1">
                <a:solidFill>
                  <a:srgbClr val="FFFFFF"/>
                </a:solidFill>
                <a:latin typeface="Aptos"/>
              </a:rPr>
              <a:t>4</a:t>
            </a:r>
          </a:p>
        </p:txBody>
      </p:sp>
      <p:sp>
        <p:nvSpPr>
          <p:cNvPr id="26" name="TextBox 25">
            <a:extLst>
              <a:ext uri="{FF2B5EF4-FFF2-40B4-BE49-F238E27FC236}">
                <a16:creationId xmlns:a16="http://schemas.microsoft.com/office/drawing/2014/main" id="{482660ED-4185-C0F5-B766-4D515F6001A3}"/>
              </a:ext>
            </a:extLst>
          </p:cNvPr>
          <p:cNvSpPr txBox="1"/>
          <p:nvPr/>
        </p:nvSpPr>
        <p:spPr>
          <a:xfrm>
            <a:off x="758951" y="1929384"/>
            <a:ext cx="10122409" cy="4093428"/>
          </a:xfrm>
          <a:prstGeom prst="rect">
            <a:avLst/>
          </a:prstGeom>
          <a:noFill/>
        </p:spPr>
        <p:txBody>
          <a:bodyPr wrap="square" rtlCol="0">
            <a:spAutoFit/>
          </a:bodyPr>
          <a:lstStyle/>
          <a:p>
            <a:pPr marL="342900" lvl="0" indent="-342900">
              <a:buFont typeface="Wingdings" panose="05000000000000000000" pitchFamily="2" charset="2"/>
              <a:buChar char="Ø"/>
            </a:pPr>
            <a:r>
              <a:rPr lang="en-US" sz="2000" b="1" dirty="0"/>
              <a:t>Area of Contribution</a:t>
            </a:r>
            <a:r>
              <a:rPr lang="en-US" sz="2000" dirty="0"/>
              <a:t>: Supporting implementation, testing, documentation, or next-step work, as applicable.</a:t>
            </a:r>
          </a:p>
          <a:p>
            <a:pPr marL="342900" lvl="0" indent="-342900">
              <a:buFont typeface="Wingdings" panose="05000000000000000000" pitchFamily="2" charset="2"/>
              <a:buChar char="Ø"/>
            </a:pPr>
            <a:r>
              <a:rPr lang="en-US" sz="2000" b="1" dirty="0"/>
              <a:t>Main Responsibilities</a:t>
            </a:r>
            <a:r>
              <a:rPr lang="en-US" sz="2000" dirty="0"/>
              <a:t>:</a:t>
            </a:r>
          </a:p>
          <a:p>
            <a:pPr marL="1657350" lvl="3" indent="-285750">
              <a:buFont typeface="Arial" panose="020B0604020202020204" pitchFamily="34" charset="0"/>
              <a:buChar char="•"/>
            </a:pPr>
            <a:r>
              <a:rPr lang="en-US" sz="2000" dirty="0"/>
              <a:t>Support implementation tasks according to assigned responsibilities.</a:t>
            </a:r>
          </a:p>
          <a:p>
            <a:pPr marL="1657350" lvl="3" indent="-285750">
              <a:buFont typeface="Arial" panose="020B0604020202020204" pitchFamily="34" charset="0"/>
              <a:buChar char="•"/>
            </a:pPr>
            <a:r>
              <a:rPr lang="en-US" sz="2000" dirty="0"/>
              <a:t>Participate in testing or reviewing application features where applicable.</a:t>
            </a:r>
          </a:p>
          <a:p>
            <a:pPr marL="1657350" lvl="3" indent="-285750">
              <a:buFont typeface="Arial" panose="020B0604020202020204" pitchFamily="34" charset="0"/>
              <a:buChar char="•"/>
            </a:pPr>
            <a:r>
              <a:rPr lang="en-US" sz="2000" dirty="0"/>
              <a:t>Contribute to documentation and the organization of supporting evidence, where applicable.</a:t>
            </a:r>
          </a:p>
          <a:p>
            <a:pPr marL="1657350" lvl="3" indent="-285750">
              <a:buFont typeface="Arial" panose="020B0604020202020204" pitchFamily="34" charset="0"/>
              <a:buChar char="•"/>
            </a:pPr>
            <a:r>
              <a:rPr lang="en-US" sz="2000" dirty="0"/>
              <a:t>Help identify improvements and follow-up tasks for the application.</a:t>
            </a:r>
          </a:p>
          <a:p>
            <a:pPr marL="1657350" lvl="3" indent="-285750">
              <a:buFont typeface="Arial" panose="020B0604020202020204" pitchFamily="34" charset="0"/>
              <a:buChar char="•"/>
            </a:pPr>
            <a:r>
              <a:rPr lang="en-US" sz="2000" dirty="0"/>
              <a:t>Support the team in completing and improving the Smart Study Companion MVP.</a:t>
            </a:r>
          </a:p>
          <a:p>
            <a:pPr marL="342900" lvl="0" indent="-342900">
              <a:buFont typeface="Wingdings" panose="05000000000000000000" pitchFamily="2" charset="2"/>
              <a:buChar char="Ø"/>
            </a:pPr>
            <a:r>
              <a:rPr lang="en-US" sz="2000" b="1" dirty="0"/>
              <a:t>Importance to the Project</a:t>
            </a:r>
            <a:r>
              <a:rPr lang="en-US" sz="2000" dirty="0"/>
              <a:t>: Supporting implementation, testing, and documentation helps the team improve application functionality, identify unresolved issues, and work toward completing the project requirements.</a:t>
            </a:r>
          </a:p>
        </p:txBody>
      </p:sp>
    </p:spTree>
    <p:extLst>
      <p:ext uri="{BB962C8B-B14F-4D97-AF65-F5344CB8AC3E}">
        <p14:creationId xmlns:p14="http://schemas.microsoft.com/office/powerpoint/2010/main" val="38775159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4C3E1-8957-61C2-2CE5-2C2D0BAA5D7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E53A0C7-4B58-2613-2D47-D44AB730D47A}"/>
              </a:ext>
            </a:extLst>
          </p:cNvPr>
          <p:cNvSpPr/>
          <p:nvPr/>
        </p:nvSpPr>
        <p:spPr>
          <a:xfrm>
            <a:off x="0" y="0"/>
            <a:ext cx="12191695" cy="128016"/>
          </a:xfrm>
          <a:prstGeom prst="rect">
            <a:avLst/>
          </a:prstGeom>
          <a:solidFill>
            <a:srgbClr val="22B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78DBFFB8-0909-1B1D-2AB0-ECDD658CB065}"/>
              </a:ext>
            </a:extLst>
          </p:cNvPr>
          <p:cNvSpPr txBox="1"/>
          <p:nvPr/>
        </p:nvSpPr>
        <p:spPr>
          <a:xfrm>
            <a:off x="443483" y="646627"/>
            <a:ext cx="10789920" cy="898708"/>
          </a:xfrm>
          <a:prstGeom prst="rect">
            <a:avLst/>
          </a:prstGeom>
          <a:noFill/>
        </p:spPr>
        <p:txBody>
          <a:bodyPr wrap="square" lIns="18288" tIns="18288" rIns="18288" bIns="18288" anchor="t">
            <a:spAutoFit/>
          </a:bodyPr>
          <a:lstStyle/>
          <a:p>
            <a:r>
              <a:rPr lang="en-US" sz="2800" b="1" dirty="0">
                <a:solidFill>
                  <a:srgbClr val="142742"/>
                </a:solidFill>
                <a:latin typeface="Aptos"/>
              </a:rPr>
              <a:t>Individual contributions: J.N. Taj Oli</a:t>
            </a:r>
          </a:p>
          <a:p>
            <a:pPr algn="l"/>
            <a:endParaRPr sz="2800" b="1" dirty="0">
              <a:solidFill>
                <a:srgbClr val="142742"/>
              </a:solidFill>
              <a:latin typeface="Aptos"/>
            </a:endParaRPr>
          </a:p>
        </p:txBody>
      </p:sp>
      <p:sp>
        <p:nvSpPr>
          <p:cNvPr id="6" name="TextBox 5">
            <a:extLst>
              <a:ext uri="{FF2B5EF4-FFF2-40B4-BE49-F238E27FC236}">
                <a16:creationId xmlns:a16="http://schemas.microsoft.com/office/drawing/2014/main" id="{3365AF2A-D9F2-9EA1-B2EA-2BB50DF34841}"/>
              </a:ext>
            </a:extLst>
          </p:cNvPr>
          <p:cNvSpPr txBox="1"/>
          <p:nvPr/>
        </p:nvSpPr>
        <p:spPr>
          <a:xfrm>
            <a:off x="594360" y="6510528"/>
            <a:ext cx="6400800" cy="182880"/>
          </a:xfrm>
          <a:prstGeom prst="rect">
            <a:avLst/>
          </a:prstGeom>
          <a:noFill/>
        </p:spPr>
        <p:txBody>
          <a:bodyPr wrap="square" lIns="18288" tIns="18288" rIns="18288" bIns="18288" anchor="t">
            <a:spAutoFit/>
          </a:bodyPr>
          <a:lstStyle/>
          <a:p>
            <a:pPr algn="l"/>
            <a:r>
              <a:rPr sz="900" b="1">
                <a:solidFill>
                  <a:srgbClr val="647382"/>
                </a:solidFill>
                <a:latin typeface="Aptos"/>
              </a:rPr>
              <a:t>TEAM 5  |  SMART STUDY COMPANION</a:t>
            </a:r>
          </a:p>
        </p:txBody>
      </p:sp>
      <p:sp>
        <p:nvSpPr>
          <p:cNvPr id="17" name="TextBox 16">
            <a:extLst>
              <a:ext uri="{FF2B5EF4-FFF2-40B4-BE49-F238E27FC236}">
                <a16:creationId xmlns:a16="http://schemas.microsoft.com/office/drawing/2014/main" id="{5BA32636-0B73-4D2A-6554-987892F714DA}"/>
              </a:ext>
            </a:extLst>
          </p:cNvPr>
          <p:cNvSpPr txBox="1"/>
          <p:nvPr/>
        </p:nvSpPr>
        <p:spPr>
          <a:xfrm>
            <a:off x="914400" y="3346703"/>
            <a:ext cx="438912" cy="228600"/>
          </a:xfrm>
          <a:prstGeom prst="rect">
            <a:avLst/>
          </a:prstGeom>
          <a:noFill/>
        </p:spPr>
        <p:txBody>
          <a:bodyPr wrap="square" lIns="18288" tIns="18288" rIns="18288" bIns="18288" anchor="t">
            <a:spAutoFit/>
          </a:bodyPr>
          <a:lstStyle/>
          <a:p>
            <a:pPr algn="ctr"/>
            <a:r>
              <a:rPr sz="1200" b="1">
                <a:solidFill>
                  <a:srgbClr val="FFFFFF"/>
                </a:solidFill>
                <a:latin typeface="Aptos"/>
              </a:rPr>
              <a:t>3</a:t>
            </a:r>
          </a:p>
        </p:txBody>
      </p:sp>
      <p:sp>
        <p:nvSpPr>
          <p:cNvPr id="21" name="TextBox 20">
            <a:extLst>
              <a:ext uri="{FF2B5EF4-FFF2-40B4-BE49-F238E27FC236}">
                <a16:creationId xmlns:a16="http://schemas.microsoft.com/office/drawing/2014/main" id="{95C29CB0-EAE4-8926-E875-C6B24D00EB8A}"/>
              </a:ext>
            </a:extLst>
          </p:cNvPr>
          <p:cNvSpPr txBox="1"/>
          <p:nvPr/>
        </p:nvSpPr>
        <p:spPr>
          <a:xfrm>
            <a:off x="914400" y="4187952"/>
            <a:ext cx="438912" cy="228600"/>
          </a:xfrm>
          <a:prstGeom prst="rect">
            <a:avLst/>
          </a:prstGeom>
          <a:noFill/>
        </p:spPr>
        <p:txBody>
          <a:bodyPr wrap="square" lIns="18288" tIns="18288" rIns="18288" bIns="18288" anchor="t">
            <a:spAutoFit/>
          </a:bodyPr>
          <a:lstStyle/>
          <a:p>
            <a:pPr algn="ctr"/>
            <a:r>
              <a:rPr sz="1200" b="1">
                <a:solidFill>
                  <a:srgbClr val="FFFFFF"/>
                </a:solidFill>
                <a:latin typeface="Aptos"/>
              </a:rPr>
              <a:t>4</a:t>
            </a:r>
          </a:p>
        </p:txBody>
      </p:sp>
      <p:sp>
        <p:nvSpPr>
          <p:cNvPr id="26" name="TextBox 25">
            <a:extLst>
              <a:ext uri="{FF2B5EF4-FFF2-40B4-BE49-F238E27FC236}">
                <a16:creationId xmlns:a16="http://schemas.microsoft.com/office/drawing/2014/main" id="{8522B4D9-7E22-F175-562D-19C0272A5293}"/>
              </a:ext>
            </a:extLst>
          </p:cNvPr>
          <p:cNvSpPr txBox="1"/>
          <p:nvPr/>
        </p:nvSpPr>
        <p:spPr>
          <a:xfrm>
            <a:off x="758951" y="1929384"/>
            <a:ext cx="10158985" cy="3170099"/>
          </a:xfrm>
          <a:prstGeom prst="rect">
            <a:avLst/>
          </a:prstGeom>
          <a:noFill/>
        </p:spPr>
        <p:txBody>
          <a:bodyPr wrap="square" rtlCol="0">
            <a:spAutoFit/>
          </a:bodyPr>
          <a:lstStyle/>
          <a:p>
            <a:pPr marL="342900" lvl="0" indent="-342900">
              <a:buFont typeface="Wingdings" panose="05000000000000000000" pitchFamily="2" charset="2"/>
              <a:buChar char="Ø"/>
            </a:pPr>
            <a:r>
              <a:rPr lang="en-US" sz="2000" b="1" dirty="0"/>
              <a:t>Area of Contribution</a:t>
            </a:r>
            <a:r>
              <a:rPr lang="en-US" sz="2000" dirty="0"/>
              <a:t>: Documentation, evidence review, and issue tracking</a:t>
            </a:r>
          </a:p>
          <a:p>
            <a:pPr marL="342900" lvl="0" indent="-342900">
              <a:buFont typeface="Wingdings" panose="05000000000000000000" pitchFamily="2" charset="2"/>
              <a:buChar char="Ø"/>
            </a:pPr>
            <a:r>
              <a:rPr lang="en-US" sz="2000" b="1" dirty="0"/>
              <a:t>Main Responsibilities</a:t>
            </a:r>
            <a:r>
              <a:rPr lang="en-US" sz="2000" dirty="0"/>
              <a:t>:</a:t>
            </a:r>
          </a:p>
          <a:p>
            <a:pPr marL="1714500" lvl="3" indent="-342900">
              <a:buFont typeface="Arial" panose="020B0604020202020204" pitchFamily="34" charset="0"/>
              <a:buChar char="•"/>
            </a:pPr>
            <a:r>
              <a:rPr lang="en-US" sz="2000" dirty="0"/>
              <a:t>Reviewed and organized project documentation.</a:t>
            </a:r>
          </a:p>
          <a:p>
            <a:pPr marL="1714500" lvl="3" indent="-342900">
              <a:buFont typeface="Arial" panose="020B0604020202020204" pitchFamily="34" charset="0"/>
              <a:buChar char="•"/>
            </a:pPr>
            <a:r>
              <a:rPr lang="en-US" sz="2000" dirty="0"/>
              <a:t>Checked testing evidence and screenshots.</a:t>
            </a:r>
          </a:p>
          <a:p>
            <a:pPr marL="1714500" lvl="3" indent="-342900">
              <a:buFont typeface="Arial" panose="020B0604020202020204" pitchFamily="34" charset="0"/>
              <a:buChar char="•"/>
            </a:pPr>
            <a:r>
              <a:rPr lang="en-US" sz="2000" dirty="0"/>
              <a:t>Tracked and updated GitHub issues.</a:t>
            </a:r>
          </a:p>
          <a:p>
            <a:pPr marL="1714500" lvl="3" indent="-342900">
              <a:buFont typeface="Arial" panose="020B0604020202020204" pitchFamily="34" charset="0"/>
              <a:buChar char="•"/>
            </a:pPr>
            <a:r>
              <a:rPr lang="en-US" sz="2000" dirty="0"/>
              <a:t>Identified documentation gaps and errors. </a:t>
            </a:r>
          </a:p>
          <a:p>
            <a:pPr marL="1714500" lvl="3" indent="-342900">
              <a:buFont typeface="Arial" panose="020B0604020202020204" pitchFamily="34" charset="0"/>
              <a:buChar char="•"/>
            </a:pPr>
            <a:r>
              <a:rPr lang="en-US" sz="2000" dirty="0"/>
              <a:t>Ensured project requirements and progress were documented.</a:t>
            </a:r>
          </a:p>
          <a:p>
            <a:pPr marL="342900" lvl="0" indent="-342900">
              <a:buFont typeface="Wingdings" panose="05000000000000000000" pitchFamily="2" charset="2"/>
              <a:buChar char="Ø"/>
            </a:pPr>
            <a:r>
              <a:rPr lang="en-US" sz="2000" b="1" dirty="0"/>
              <a:t>Importance to the Project</a:t>
            </a:r>
            <a:r>
              <a:rPr lang="en-US" sz="2000" dirty="0"/>
              <a:t>: Documentation and evidence review help the team communicate its progress accurately, track unresolved problems, and prepare reliable evidence for assessment.</a:t>
            </a:r>
          </a:p>
        </p:txBody>
      </p:sp>
    </p:spTree>
    <p:extLst>
      <p:ext uri="{BB962C8B-B14F-4D97-AF65-F5344CB8AC3E}">
        <p14:creationId xmlns:p14="http://schemas.microsoft.com/office/powerpoint/2010/main" val="32015709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A63DF-E046-315A-82C1-EA59C5007A1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6652E50-D222-B2AD-F399-AF7A82D55101}"/>
              </a:ext>
            </a:extLst>
          </p:cNvPr>
          <p:cNvSpPr/>
          <p:nvPr/>
        </p:nvSpPr>
        <p:spPr>
          <a:xfrm>
            <a:off x="0" y="0"/>
            <a:ext cx="12191695" cy="128016"/>
          </a:xfrm>
          <a:prstGeom prst="rect">
            <a:avLst/>
          </a:prstGeom>
          <a:solidFill>
            <a:srgbClr val="22B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879BD48E-08F3-708E-5B5D-D8C058B98394}"/>
              </a:ext>
            </a:extLst>
          </p:cNvPr>
          <p:cNvSpPr txBox="1"/>
          <p:nvPr/>
        </p:nvSpPr>
        <p:spPr>
          <a:xfrm>
            <a:off x="594360" y="713232"/>
            <a:ext cx="10789920" cy="467820"/>
          </a:xfrm>
          <a:prstGeom prst="rect">
            <a:avLst/>
          </a:prstGeom>
          <a:noFill/>
        </p:spPr>
        <p:txBody>
          <a:bodyPr wrap="square" lIns="18288" tIns="18288" rIns="18288" bIns="18288" anchor="t">
            <a:spAutoFit/>
          </a:bodyPr>
          <a:lstStyle/>
          <a:p>
            <a:pPr algn="l"/>
            <a:r>
              <a:rPr lang="en-US" sz="2800" b="1" dirty="0">
                <a:solidFill>
                  <a:srgbClr val="142742"/>
                </a:solidFill>
                <a:latin typeface="Aptos"/>
              </a:rPr>
              <a:t>Future Improvements and Conclusion</a:t>
            </a:r>
            <a:endParaRPr sz="2800" b="1" dirty="0">
              <a:solidFill>
                <a:srgbClr val="142742"/>
              </a:solidFill>
              <a:latin typeface="Aptos"/>
            </a:endParaRPr>
          </a:p>
        </p:txBody>
      </p:sp>
      <p:sp>
        <p:nvSpPr>
          <p:cNvPr id="6" name="TextBox 5">
            <a:extLst>
              <a:ext uri="{FF2B5EF4-FFF2-40B4-BE49-F238E27FC236}">
                <a16:creationId xmlns:a16="http://schemas.microsoft.com/office/drawing/2014/main" id="{A2B46093-A3AC-E28E-562D-C808344BE84E}"/>
              </a:ext>
            </a:extLst>
          </p:cNvPr>
          <p:cNvSpPr txBox="1"/>
          <p:nvPr/>
        </p:nvSpPr>
        <p:spPr>
          <a:xfrm>
            <a:off x="594360" y="6510528"/>
            <a:ext cx="6400800" cy="182880"/>
          </a:xfrm>
          <a:prstGeom prst="rect">
            <a:avLst/>
          </a:prstGeom>
          <a:noFill/>
        </p:spPr>
        <p:txBody>
          <a:bodyPr wrap="square" lIns="18288" tIns="18288" rIns="18288" bIns="18288" anchor="t">
            <a:spAutoFit/>
          </a:bodyPr>
          <a:lstStyle/>
          <a:p>
            <a:pPr algn="l"/>
            <a:r>
              <a:rPr sz="900" b="1">
                <a:solidFill>
                  <a:srgbClr val="647382"/>
                </a:solidFill>
                <a:latin typeface="Aptos"/>
              </a:rPr>
              <a:t>TEAM 5  |  SMART STUDY COMPANION</a:t>
            </a:r>
          </a:p>
        </p:txBody>
      </p:sp>
      <p:sp>
        <p:nvSpPr>
          <p:cNvPr id="10" name="TextBox 9">
            <a:extLst>
              <a:ext uri="{FF2B5EF4-FFF2-40B4-BE49-F238E27FC236}">
                <a16:creationId xmlns:a16="http://schemas.microsoft.com/office/drawing/2014/main" id="{F1DF7B6A-FD4A-05AD-FF53-1F3049BF21DD}"/>
              </a:ext>
            </a:extLst>
          </p:cNvPr>
          <p:cNvSpPr txBox="1"/>
          <p:nvPr/>
        </p:nvSpPr>
        <p:spPr>
          <a:xfrm>
            <a:off x="1600200" y="1618488"/>
            <a:ext cx="1371600" cy="298543"/>
          </a:xfrm>
          <a:prstGeom prst="rect">
            <a:avLst/>
          </a:prstGeom>
          <a:noFill/>
        </p:spPr>
        <p:txBody>
          <a:bodyPr wrap="square" lIns="18288" tIns="18288" rIns="18288" bIns="18288" anchor="t">
            <a:spAutoFit/>
          </a:bodyPr>
          <a:lstStyle/>
          <a:p>
            <a:pPr algn="l"/>
            <a:endParaRPr sz="1700" b="1" dirty="0">
              <a:solidFill>
                <a:srgbClr val="142742"/>
              </a:solidFill>
              <a:latin typeface="Aptos"/>
            </a:endParaRPr>
          </a:p>
        </p:txBody>
      </p:sp>
      <p:sp>
        <p:nvSpPr>
          <p:cNvPr id="14" name="TextBox 13">
            <a:extLst>
              <a:ext uri="{FF2B5EF4-FFF2-40B4-BE49-F238E27FC236}">
                <a16:creationId xmlns:a16="http://schemas.microsoft.com/office/drawing/2014/main" id="{7A56C683-D9E8-3387-3F34-1D5D3B3281E7}"/>
              </a:ext>
            </a:extLst>
          </p:cNvPr>
          <p:cNvSpPr txBox="1"/>
          <p:nvPr/>
        </p:nvSpPr>
        <p:spPr>
          <a:xfrm>
            <a:off x="1600200" y="2459736"/>
            <a:ext cx="1371600" cy="298543"/>
          </a:xfrm>
          <a:prstGeom prst="rect">
            <a:avLst/>
          </a:prstGeom>
          <a:noFill/>
        </p:spPr>
        <p:txBody>
          <a:bodyPr wrap="square" lIns="18288" tIns="18288" rIns="18288" bIns="18288" anchor="t">
            <a:spAutoFit/>
          </a:bodyPr>
          <a:lstStyle/>
          <a:p>
            <a:pPr algn="l"/>
            <a:endParaRPr sz="1700" b="1" dirty="0">
              <a:solidFill>
                <a:srgbClr val="142742"/>
              </a:solidFill>
              <a:latin typeface="Aptos"/>
            </a:endParaRPr>
          </a:p>
        </p:txBody>
      </p:sp>
      <p:sp>
        <p:nvSpPr>
          <p:cNvPr id="17" name="TextBox 16">
            <a:extLst>
              <a:ext uri="{FF2B5EF4-FFF2-40B4-BE49-F238E27FC236}">
                <a16:creationId xmlns:a16="http://schemas.microsoft.com/office/drawing/2014/main" id="{0A561D53-DAB5-67DF-1055-7AD3435C76C4}"/>
              </a:ext>
            </a:extLst>
          </p:cNvPr>
          <p:cNvSpPr txBox="1"/>
          <p:nvPr/>
        </p:nvSpPr>
        <p:spPr>
          <a:xfrm>
            <a:off x="914400" y="3346703"/>
            <a:ext cx="438912" cy="228600"/>
          </a:xfrm>
          <a:prstGeom prst="rect">
            <a:avLst/>
          </a:prstGeom>
          <a:noFill/>
        </p:spPr>
        <p:txBody>
          <a:bodyPr wrap="square" lIns="18288" tIns="18288" rIns="18288" bIns="18288" anchor="t">
            <a:spAutoFit/>
          </a:bodyPr>
          <a:lstStyle/>
          <a:p>
            <a:pPr algn="ctr"/>
            <a:r>
              <a:rPr sz="1200" b="1">
                <a:solidFill>
                  <a:srgbClr val="FFFFFF"/>
                </a:solidFill>
                <a:latin typeface="Aptos"/>
              </a:rPr>
              <a:t>3</a:t>
            </a:r>
          </a:p>
        </p:txBody>
      </p:sp>
      <p:sp>
        <p:nvSpPr>
          <p:cNvPr id="18" name="TextBox 17">
            <a:extLst>
              <a:ext uri="{FF2B5EF4-FFF2-40B4-BE49-F238E27FC236}">
                <a16:creationId xmlns:a16="http://schemas.microsoft.com/office/drawing/2014/main" id="{AA18F250-E44C-F24F-44C9-855E1056A2E2}"/>
              </a:ext>
            </a:extLst>
          </p:cNvPr>
          <p:cNvSpPr txBox="1"/>
          <p:nvPr/>
        </p:nvSpPr>
        <p:spPr>
          <a:xfrm>
            <a:off x="1600200" y="3300984"/>
            <a:ext cx="1371600" cy="298543"/>
          </a:xfrm>
          <a:prstGeom prst="rect">
            <a:avLst/>
          </a:prstGeom>
          <a:noFill/>
        </p:spPr>
        <p:txBody>
          <a:bodyPr wrap="square" lIns="18288" tIns="18288" rIns="18288" bIns="18288" anchor="t">
            <a:spAutoFit/>
          </a:bodyPr>
          <a:lstStyle/>
          <a:p>
            <a:pPr algn="l"/>
            <a:endParaRPr sz="1700" b="1" dirty="0">
              <a:solidFill>
                <a:srgbClr val="142742"/>
              </a:solidFill>
              <a:latin typeface="Aptos"/>
            </a:endParaRPr>
          </a:p>
        </p:txBody>
      </p:sp>
      <p:sp>
        <p:nvSpPr>
          <p:cNvPr id="22" name="TextBox 21">
            <a:extLst>
              <a:ext uri="{FF2B5EF4-FFF2-40B4-BE49-F238E27FC236}">
                <a16:creationId xmlns:a16="http://schemas.microsoft.com/office/drawing/2014/main" id="{FE0246B4-D708-8747-F4B5-6BCC63C707A0}"/>
              </a:ext>
            </a:extLst>
          </p:cNvPr>
          <p:cNvSpPr txBox="1"/>
          <p:nvPr/>
        </p:nvSpPr>
        <p:spPr>
          <a:xfrm>
            <a:off x="1600200" y="4142231"/>
            <a:ext cx="1371600" cy="298543"/>
          </a:xfrm>
          <a:prstGeom prst="rect">
            <a:avLst/>
          </a:prstGeom>
          <a:noFill/>
        </p:spPr>
        <p:txBody>
          <a:bodyPr wrap="square" lIns="18288" tIns="18288" rIns="18288" bIns="18288" anchor="t">
            <a:spAutoFit/>
          </a:bodyPr>
          <a:lstStyle/>
          <a:p>
            <a:pPr algn="l"/>
            <a:endParaRPr sz="1700" b="1" dirty="0">
              <a:solidFill>
                <a:srgbClr val="142742"/>
              </a:solidFill>
              <a:latin typeface="Aptos"/>
            </a:endParaRPr>
          </a:p>
        </p:txBody>
      </p:sp>
      <p:sp>
        <p:nvSpPr>
          <p:cNvPr id="25" name="TextBox 24">
            <a:extLst>
              <a:ext uri="{FF2B5EF4-FFF2-40B4-BE49-F238E27FC236}">
                <a16:creationId xmlns:a16="http://schemas.microsoft.com/office/drawing/2014/main" id="{006B916B-9BA2-6BF9-B720-16F75734DB4D}"/>
              </a:ext>
            </a:extLst>
          </p:cNvPr>
          <p:cNvSpPr txBox="1"/>
          <p:nvPr/>
        </p:nvSpPr>
        <p:spPr>
          <a:xfrm>
            <a:off x="914400" y="5852160"/>
            <a:ext cx="2743200" cy="320040"/>
          </a:xfrm>
          <a:prstGeom prst="rect">
            <a:avLst/>
          </a:prstGeom>
          <a:noFill/>
        </p:spPr>
        <p:txBody>
          <a:bodyPr wrap="square" lIns="18288" tIns="18288" rIns="18288" bIns="18288" anchor="t">
            <a:spAutoFit/>
          </a:bodyPr>
          <a:lstStyle/>
          <a:p>
            <a:pPr algn="l"/>
            <a:r>
              <a:rPr sz="1700" b="1">
                <a:solidFill>
                  <a:srgbClr val="22B7BE"/>
                </a:solidFill>
                <a:latin typeface="Aptos"/>
              </a:rPr>
              <a:t>Thank you</a:t>
            </a:r>
          </a:p>
        </p:txBody>
      </p:sp>
      <p:sp>
        <p:nvSpPr>
          <p:cNvPr id="26" name="TextBox 25">
            <a:extLst>
              <a:ext uri="{FF2B5EF4-FFF2-40B4-BE49-F238E27FC236}">
                <a16:creationId xmlns:a16="http://schemas.microsoft.com/office/drawing/2014/main" id="{21C62607-9864-1559-BBBF-435C9717EB03}"/>
              </a:ext>
            </a:extLst>
          </p:cNvPr>
          <p:cNvSpPr txBox="1"/>
          <p:nvPr/>
        </p:nvSpPr>
        <p:spPr>
          <a:xfrm>
            <a:off x="786384" y="1371600"/>
            <a:ext cx="10789920" cy="4154984"/>
          </a:xfrm>
          <a:prstGeom prst="rect">
            <a:avLst/>
          </a:prstGeom>
          <a:noFill/>
        </p:spPr>
        <p:txBody>
          <a:bodyPr wrap="square" rtlCol="0">
            <a:spAutoFit/>
          </a:bodyPr>
          <a:lstStyle/>
          <a:p>
            <a:r>
              <a:rPr lang="en-US" sz="2400" dirty="0"/>
              <a:t>In the future, the Smart Study Companion can be improved by adding an AI-powered study planner that recommends daily study activities based on subjects, deadlines, and student progress. The system could also include reminders for upcoming assignments and exams, an advanced quiz system with different difficulty levels and explanations for incorrect answers, and a progress dashboard to help students track completed tasks and quiz scores. Additionally, user accounts and cloud storage could allow students to access their study plans from different devices, while group study features could help students share tasks and study materials with classmates. The user interface could also be improved with dark mode, better mobile support, and accessibility features. These improvements would make Smart Study Companion more useful, reliable, and user-friendly for college students.</a:t>
            </a:r>
          </a:p>
        </p:txBody>
      </p:sp>
    </p:spTree>
    <p:extLst>
      <p:ext uri="{BB962C8B-B14F-4D97-AF65-F5344CB8AC3E}">
        <p14:creationId xmlns:p14="http://schemas.microsoft.com/office/powerpoint/2010/main" val="10261772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73</TotalTime>
  <Words>1253</Words>
  <Application>Microsoft Office PowerPoint</Application>
  <PresentationFormat>Widescreen</PresentationFormat>
  <Paragraphs>115</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J.N. Oli</cp:lastModifiedBy>
  <cp:revision>4</cp:revision>
  <dcterms:created xsi:type="dcterms:W3CDTF">2013-01-27T09:14:16Z</dcterms:created>
  <dcterms:modified xsi:type="dcterms:W3CDTF">2026-10-22T04:58:35Z</dcterms:modified>
  <cp:category/>
</cp:coreProperties>
</file>